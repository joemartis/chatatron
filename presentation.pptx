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E"/>
        </a:solidFill>
        <a:effectLst/>
      </p:bgPr>
    </p:bg>
    <p:spTree>
      <p:nvGrpSpPr>
        <p:cNvPr id="1" name=""/>
        <p:cNvGrpSpPr/>
        <p:nvPr/>
      </p:nvGrpSpPr>
      <p:grpSpPr/>
      <p:sp>
        <p:nvSpPr>
          <p:cNvPr id="2" name="TextBox 1"/>
          <p:cNvSpPr txBox="1"/>
          <p:nvPr/>
        </p:nvSpPr>
        <p:spPr>
          <a:xfrm>
            <a:off x="914400" y="1097280"/>
            <a:ext cx="10332720" cy="457200"/>
          </a:xfrm>
          <a:prstGeom prst="rect">
            <a:avLst/>
          </a:prstGeom>
          <a:noFill/>
        </p:spPr>
        <p:txBody>
          <a:bodyPr wrap="square">
            <a:spAutoFit/>
          </a:bodyPr>
          <a:lstStyle/>
          <a:p>
            <a:pPr algn="ctr">
              <a:defRPr sz="1400" b="1">
                <a:solidFill>
                  <a:srgbClr val="A31F34"/>
                </a:solidFill>
                <a:latin typeface="Calibri"/>
              </a:defRPr>
            </a:pPr>
            <a:r>
              <a:t>MIT Open Learning · Universal AI</a:t>
            </a:r>
          </a:p>
        </p:txBody>
      </p:sp>
      <p:sp>
        <p:nvSpPr>
          <p:cNvPr id="3" name="TextBox 2"/>
          <p:cNvSpPr txBox="1"/>
          <p:nvPr/>
        </p:nvSpPr>
        <p:spPr>
          <a:xfrm>
            <a:off x="914400" y="1828800"/>
            <a:ext cx="10332720" cy="1097280"/>
          </a:xfrm>
          <a:prstGeom prst="rect">
            <a:avLst/>
          </a:prstGeom>
          <a:noFill/>
        </p:spPr>
        <p:txBody>
          <a:bodyPr wrap="square">
            <a:spAutoFit/>
          </a:bodyPr>
          <a:lstStyle/>
          <a:p>
            <a:pPr algn="ctr">
              <a:defRPr sz="5400" b="1">
                <a:solidFill>
                  <a:srgbClr val="FFFFFF"/>
                </a:solidFill>
                <a:latin typeface="Calibri"/>
              </a:defRPr>
            </a:pPr>
            <a:r>
              <a:t>Fixatron2000</a:t>
            </a:r>
          </a:p>
        </p:txBody>
      </p:sp>
      <p:sp>
        <p:nvSpPr>
          <p:cNvPr id="4" name="TextBox 3"/>
          <p:cNvSpPr txBox="1"/>
          <p:nvPr/>
        </p:nvSpPr>
        <p:spPr>
          <a:xfrm>
            <a:off x="1828800" y="3108960"/>
            <a:ext cx="8503920" cy="914400"/>
          </a:xfrm>
          <a:prstGeom prst="rect">
            <a:avLst/>
          </a:prstGeom>
          <a:noFill/>
        </p:spPr>
        <p:txBody>
          <a:bodyPr wrap="square">
            <a:spAutoFit/>
          </a:bodyPr>
          <a:lstStyle/>
          <a:p>
            <a:pPr algn="ctr">
              <a:defRPr sz="2200" b="0">
                <a:solidFill>
                  <a:srgbClr val="E2E8F0"/>
                </a:solidFill>
                <a:latin typeface="Calibri"/>
              </a:defRPr>
            </a:pPr>
            <a:r>
              <a:t>AI-powered quality assurance for UAI Modules —</a:t>
            </a:r>
            <a:br/>
            <a:r>
              <a:t>ensuring every module meets the quality bar.</a:t>
            </a:r>
          </a:p>
        </p:txBody>
      </p:sp>
      <p:sp>
        <p:nvSpPr>
          <p:cNvPr id="5" name="TextBox 4"/>
          <p:cNvSpPr txBox="1"/>
          <p:nvPr/>
        </p:nvSpPr>
        <p:spPr>
          <a:xfrm>
            <a:off x="1828800" y="4572000"/>
            <a:ext cx="8503920" cy="457200"/>
          </a:xfrm>
          <a:prstGeom prst="rect">
            <a:avLst/>
          </a:prstGeom>
          <a:noFill/>
        </p:spPr>
        <p:txBody>
          <a:bodyPr wrap="square">
            <a:spAutoFit/>
          </a:bodyPr>
          <a:lstStyle/>
          <a:p>
            <a:pPr algn="ctr">
              <a:defRPr sz="1400" b="0">
                <a:solidFill>
                  <a:srgbClr val="94A3B8"/>
                </a:solidFill>
                <a:latin typeface="Calibri"/>
              </a:defRPr>
            </a:pPr>
            <a:r>
              <a:t>Built through human + AI collaboration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548640"/>
            <a:ext cx="4572000" cy="365760"/>
          </a:xfrm>
          <a:prstGeom prst="rect">
            <a:avLst/>
          </a:prstGeom>
          <a:noFill/>
        </p:spPr>
        <p:txBody>
          <a:bodyPr wrap="square">
            <a:spAutoFit/>
          </a:bodyPr>
          <a:lstStyle/>
          <a:p>
            <a:pPr algn="l">
              <a:defRPr sz="1200" b="1">
                <a:solidFill>
                  <a:srgbClr val="94A3B8"/>
                </a:solidFill>
                <a:latin typeface="Calibri"/>
              </a:defRPr>
            </a:pPr>
            <a:r>
              <a:t>THE OPPORTUNITY</a:t>
            </a:r>
          </a:p>
        </p:txBody>
      </p:sp>
      <p:sp>
        <p:nvSpPr>
          <p:cNvPr id="3" name="TextBox 2"/>
          <p:cNvSpPr txBox="1"/>
          <p:nvPr/>
        </p:nvSpPr>
        <p:spPr>
          <a:xfrm>
            <a:off x="731520" y="1005840"/>
            <a:ext cx="9144000" cy="731520"/>
          </a:xfrm>
          <a:prstGeom prst="rect">
            <a:avLst/>
          </a:prstGeom>
          <a:noFill/>
        </p:spPr>
        <p:txBody>
          <a:bodyPr wrap="square">
            <a:spAutoFit/>
          </a:bodyPr>
          <a:lstStyle/>
          <a:p>
            <a:pPr algn="l">
              <a:defRPr sz="3600" b="1">
                <a:solidFill>
                  <a:srgbClr val="FFFFFF"/>
                </a:solidFill>
                <a:latin typeface="Calibri"/>
              </a:defRPr>
            </a:pPr>
            <a:r>
              <a:t>Quality at the scale UAI demands</a:t>
            </a:r>
          </a:p>
        </p:txBody>
      </p:sp>
      <p:sp>
        <p:nvSpPr>
          <p:cNvPr id="4" name="TextBox 3"/>
          <p:cNvSpPr txBox="1"/>
          <p:nvPr/>
        </p:nvSpPr>
        <p:spPr>
          <a:xfrm>
            <a:off x="731520" y="1828800"/>
            <a:ext cx="8229600" cy="731520"/>
          </a:xfrm>
          <a:prstGeom prst="rect">
            <a:avLst/>
          </a:prstGeom>
          <a:noFill/>
        </p:spPr>
        <p:txBody>
          <a:bodyPr wrap="square">
            <a:spAutoFit/>
          </a:bodyPr>
          <a:lstStyle/>
          <a:p>
            <a:pPr algn="l">
              <a:defRPr sz="1600" b="0">
                <a:solidFill>
                  <a:srgbClr val="94A3B8"/>
                </a:solidFill>
                <a:latin typeface="Calibri"/>
              </a:defRPr>
            </a:pPr>
            <a:r>
              <a:t>As the UAI program grows, so does the volume of modules and the complexity of the quality standards behind them. Fixatron automates the tedious parts so the focus stays on what matters most — the learning experience.</a:t>
            </a:r>
          </a:p>
        </p:txBody>
      </p:sp>
      <p:sp>
        <p:nvSpPr>
          <p:cNvPr id="5" name="TextBox 4"/>
          <p:cNvSpPr txBox="1"/>
          <p:nvPr/>
        </p:nvSpPr>
        <p:spPr>
          <a:xfrm>
            <a:off x="731520" y="2743200"/>
            <a:ext cx="9144000" cy="2743200"/>
          </a:xfrm>
          <a:prstGeom prst="rect">
            <a:avLst/>
          </a:prstGeom>
          <a:noFill/>
        </p:spPr>
        <p:txBody>
          <a:bodyPr wrap="square">
            <a:spAutoFit/>
          </a:bodyPr>
          <a:lstStyle/>
          <a:p>
            <a:pPr>
              <a:spcBef>
                <a:spcPts val="800"/>
              </a:spcBef>
            </a:pPr>
            <a:r>
              <a:rPr sz="1600" b="1">
                <a:solidFill>
                  <a:srgbClr val="FFFFFF"/>
                </a:solidFill>
                <a:latin typeface="Calibri"/>
              </a:rPr>
              <a:t>Growing volume of modules</a:t>
            </a:r>
            <a:r>
              <a:rPr sz="1400">
                <a:solidFill>
                  <a:srgbClr val="94A3B8"/>
                </a:solidFill>
                <a:latin typeface="Calibri"/>
              </a:rPr>
              <a:t> — more content means more to review; automation lets the team keep pace without cutting corners</a:t>
            </a:r>
          </a:p>
          <a:p>
            <a:pPr>
              <a:spcBef>
                <a:spcPts val="400"/>
              </a:spcBef>
            </a:pPr>
          </a:p>
          <a:p>
            <a:pPr>
              <a:spcBef>
                <a:spcPts val="800"/>
              </a:spcBef>
            </a:pPr>
            <a:r>
              <a:rPr sz="1600" b="1">
                <a:solidFill>
                  <a:srgbClr val="FFFFFF"/>
                </a:solidFill>
                <a:latin typeface="Calibri"/>
              </a:rPr>
              <a:t>Hundreds of settings per module</a:t>
            </a:r>
            <a:r>
              <a:rPr sz="1400">
                <a:solidFill>
                  <a:srgbClr val="94A3B8"/>
                </a:solidFill>
                <a:latin typeface="Calibri"/>
              </a:rPr>
              <a:t> — XML metadata, naming conventions, accessibility attributes — automation catches every detail instantly</a:t>
            </a:r>
          </a:p>
          <a:p>
            <a:pPr>
              <a:spcBef>
                <a:spcPts val="400"/>
              </a:spcBef>
            </a:pPr>
          </a:p>
          <a:p>
            <a:pPr>
              <a:spcBef>
                <a:spcPts val="800"/>
              </a:spcBef>
            </a:pPr>
            <a:r>
              <a:rPr sz="1600" b="1">
                <a:solidFill>
                  <a:srgbClr val="FFFFFF"/>
                </a:solidFill>
                <a:latin typeface="Calibri"/>
              </a:rPr>
              <a:t>Consistency across the catalog</a:t>
            </a:r>
            <a:r>
              <a:rPr sz="1400">
                <a:solidFill>
                  <a:srgbClr val="94A3B8"/>
                </a:solidFill>
                <a:latin typeface="Calibri"/>
              </a:rPr>
              <a:t> — a single automated standard ensures every module is measured the same way</a:t>
            </a:r>
          </a:p>
          <a:p>
            <a:pPr>
              <a:spcBef>
                <a:spcPts val="400"/>
              </a:spcBef>
            </a:pPr>
          </a:p>
          <a:p>
            <a:pPr>
              <a:spcBef>
                <a:spcPts val="800"/>
              </a:spcBef>
            </a:pPr>
            <a:r>
              <a:rPr sz="1600" b="1">
                <a:solidFill>
                  <a:srgbClr val="FFFFFF"/>
                </a:solidFill>
                <a:latin typeface="Calibri"/>
              </a:rPr>
              <a:t>Faster feedback loops</a:t>
            </a:r>
            <a:r>
              <a:rPr sz="1400">
                <a:solidFill>
                  <a:srgbClr val="94A3B8"/>
                </a:solidFill>
                <a:latin typeface="Calibri"/>
              </a:rPr>
              <a:t> — content authors can check quality instantly, accelerating the path from draft to published</a:t>
            </a:r>
          </a:p>
        </p:txBody>
      </p:sp>
      <p:sp>
        <p:nvSpPr>
          <p:cNvPr id="6" name="Rounded Rectangle 5"/>
          <p:cNvSpPr/>
          <p:nvPr/>
        </p:nvSpPr>
        <p:spPr>
          <a:xfrm>
            <a:off x="731520" y="5669280"/>
            <a:ext cx="10515600" cy="640080"/>
          </a:xfrm>
          <a:prstGeom prst="roundRect">
            <a:avLst/>
          </a:prstGeom>
          <a:solidFill>
            <a:srgbClr val="25254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a:solidFill>
                  <a:srgbClr val="818CF8"/>
                </a:solidFill>
                <a:latin typeface="Calibri"/>
              </a:defRPr>
            </a:pPr>
            <a:r>
              <a:t>“AI-powered quality assurance that checks every detail, every time.”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6366F1"/>
        </a:solidFill>
        <a:effectLst/>
      </p:bgPr>
    </p:bg>
    <p:spTree>
      <p:nvGrpSpPr>
        <p:cNvPr id="1" name=""/>
        <p:cNvGrpSpPr/>
        <p:nvPr/>
      </p:nvGrpSpPr>
      <p:grpSpPr/>
      <p:sp>
        <p:nvSpPr>
          <p:cNvPr id="2" name="TextBox 1"/>
          <p:cNvSpPr txBox="1"/>
          <p:nvPr/>
        </p:nvSpPr>
        <p:spPr>
          <a:xfrm>
            <a:off x="914400" y="731520"/>
            <a:ext cx="10332720" cy="1097280"/>
          </a:xfrm>
          <a:prstGeom prst="rect">
            <a:avLst/>
          </a:prstGeom>
          <a:noFill/>
        </p:spPr>
        <p:txBody>
          <a:bodyPr wrap="square">
            <a:spAutoFit/>
          </a:bodyPr>
          <a:lstStyle/>
          <a:p>
            <a:pPr algn="ctr">
              <a:defRPr sz="9600" b="1">
                <a:solidFill>
                  <a:srgbClr val="FFFFFF"/>
                </a:solidFill>
                <a:latin typeface="Calibri"/>
              </a:defRPr>
            </a:pPr>
            <a:r>
              <a:t>95</a:t>
            </a:r>
          </a:p>
        </p:txBody>
      </p:sp>
      <p:sp>
        <p:nvSpPr>
          <p:cNvPr id="3" name="TextBox 2"/>
          <p:cNvSpPr txBox="1"/>
          <p:nvPr/>
        </p:nvSpPr>
        <p:spPr>
          <a:xfrm>
            <a:off x="1371600" y="2286000"/>
            <a:ext cx="9418320" cy="914400"/>
          </a:xfrm>
          <a:prstGeom prst="rect">
            <a:avLst/>
          </a:prstGeom>
          <a:noFill/>
        </p:spPr>
        <p:txBody>
          <a:bodyPr wrap="square">
            <a:spAutoFit/>
          </a:bodyPr>
          <a:lstStyle/>
          <a:p>
            <a:pPr algn="ctr">
              <a:defRPr sz="2800" b="1">
                <a:solidFill>
                  <a:srgbClr val="FFFFFF"/>
                </a:solidFill>
                <a:latin typeface="Calibri"/>
              </a:defRPr>
            </a:pPr>
            <a:r>
              <a:t>quality rules, running in seconds —</a:t>
            </a:r>
            <a:br/>
            <a:r>
              <a:t>an extra layer of assurance for every module</a:t>
            </a:r>
          </a:p>
        </p:txBody>
      </p:sp>
      <p:sp>
        <p:nvSpPr>
          <p:cNvPr id="4" name="TextBox 3"/>
          <p:cNvSpPr txBox="1"/>
          <p:nvPr/>
        </p:nvSpPr>
        <p:spPr>
          <a:xfrm>
            <a:off x="1828800" y="3474720"/>
            <a:ext cx="8503920" cy="1371600"/>
          </a:xfrm>
          <a:prstGeom prst="rect">
            <a:avLst/>
          </a:prstGeom>
          <a:noFill/>
        </p:spPr>
        <p:txBody>
          <a:bodyPr wrap="square">
            <a:spAutoFit/>
          </a:bodyPr>
          <a:lstStyle/>
          <a:p>
            <a:pPr algn="ctr">
              <a:defRPr sz="1800" b="0">
                <a:solidFill>
                  <a:srgbClr val="E2E8F0"/>
                </a:solidFill>
                <a:latin typeface="Calibri"/>
              </a:defRPr>
            </a:pPr>
            <a:r>
              <a:t>When we ran UAI Modules through Fixatron, it surfaced findings across metadata details, naming inconsistencies, and accessibility attributes — the kind of granular checks that are perfect for automation. An always-on safety net for every module.</a:t>
            </a:r>
          </a:p>
        </p:txBody>
      </p:sp>
      <p:sp>
        <p:nvSpPr>
          <p:cNvPr id="5" name="Rounded Rectangle 4"/>
          <p:cNvSpPr/>
          <p:nvPr/>
        </p:nvSpPr>
        <p:spPr>
          <a:xfrm>
            <a:off x="2286000" y="5120640"/>
            <a:ext cx="7589520" cy="731520"/>
          </a:xfrm>
          <a:prstGeom prst="roundRect">
            <a:avLst/>
          </a:prstGeom>
          <a:solidFill>
            <a:srgbClr val="4A3AD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FFFFFF"/>
                </a:solidFill>
                <a:latin typeface="Calibri"/>
              </a:defRPr>
            </a:pPr>
            <a:r>
              <a:t>AI doing what AI does best — so people can focus on what people do best.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62032"/>
        </a:solidFill>
        <a:effectLst/>
      </p:bgPr>
    </p:bg>
    <p:spTree>
      <p:nvGrpSpPr>
        <p:cNvPr id="1" name=""/>
        <p:cNvGrpSpPr/>
        <p:nvPr/>
      </p:nvGrpSpPr>
      <p:grpSpPr/>
      <p:sp>
        <p:nvSpPr>
          <p:cNvPr id="2" name="TextBox 1"/>
          <p:cNvSpPr txBox="1"/>
          <p:nvPr/>
        </p:nvSpPr>
        <p:spPr>
          <a:xfrm>
            <a:off x="731520" y="548640"/>
            <a:ext cx="4572000" cy="365760"/>
          </a:xfrm>
          <a:prstGeom prst="rect">
            <a:avLst/>
          </a:prstGeom>
          <a:noFill/>
        </p:spPr>
        <p:txBody>
          <a:bodyPr wrap="square">
            <a:spAutoFit/>
          </a:bodyPr>
          <a:lstStyle/>
          <a:p>
            <a:pPr algn="l">
              <a:defRPr sz="1200" b="1">
                <a:solidFill>
                  <a:srgbClr val="94A3B8"/>
                </a:solidFill>
                <a:latin typeface="Calibri"/>
              </a:defRPr>
            </a:pPr>
            <a:r>
              <a:t>THE STORY</a:t>
            </a:r>
          </a:p>
        </p:txBody>
      </p:sp>
      <p:sp>
        <p:nvSpPr>
          <p:cNvPr id="3" name="TextBox 2"/>
          <p:cNvSpPr txBox="1"/>
          <p:nvPr/>
        </p:nvSpPr>
        <p:spPr>
          <a:xfrm>
            <a:off x="731520" y="1005840"/>
            <a:ext cx="9144000" cy="731520"/>
          </a:xfrm>
          <a:prstGeom prst="rect">
            <a:avLst/>
          </a:prstGeom>
          <a:noFill/>
        </p:spPr>
        <p:txBody>
          <a:bodyPr wrap="square">
            <a:spAutoFit/>
          </a:bodyPr>
          <a:lstStyle/>
          <a:p>
            <a:pPr algn="l">
              <a:defRPr sz="3600" b="1">
                <a:solidFill>
                  <a:srgbClr val="FFFFFF"/>
                </a:solidFill>
                <a:latin typeface="Calibri"/>
              </a:defRPr>
            </a:pPr>
            <a:r>
              <a:t>Built through human + AI partnership</a:t>
            </a:r>
          </a:p>
        </p:txBody>
      </p:sp>
      <p:sp>
        <p:nvSpPr>
          <p:cNvPr id="4" name="TextBox 3"/>
          <p:cNvSpPr txBox="1"/>
          <p:nvPr/>
        </p:nvSpPr>
        <p:spPr>
          <a:xfrm>
            <a:off x="731520" y="1828800"/>
            <a:ext cx="8229600" cy="640080"/>
          </a:xfrm>
          <a:prstGeom prst="rect">
            <a:avLst/>
          </a:prstGeom>
          <a:noFill/>
        </p:spPr>
        <p:txBody>
          <a:bodyPr wrap="square">
            <a:spAutoFit/>
          </a:bodyPr>
          <a:lstStyle/>
          <a:p>
            <a:pPr algn="l">
              <a:defRPr sz="1600" b="0">
                <a:solidFill>
                  <a:srgbClr val="94A3B8"/>
                </a:solidFill>
                <a:latin typeface="Calibri"/>
              </a:defRPr>
            </a:pPr>
            <a:r>
              <a:t>Fixatron wasn’t built by AI alone. It was a true collaboration — iterating together through real UAI Module exports, discovering patterns, refining rules, and pushing toward higher quality.</a:t>
            </a:r>
          </a:p>
        </p:txBody>
      </p:sp>
      <p:sp>
        <p:nvSpPr>
          <p:cNvPr id="5" name="TextBox 4"/>
          <p:cNvSpPr txBox="1"/>
          <p:nvPr/>
        </p:nvSpPr>
        <p:spPr>
          <a:xfrm>
            <a:off x="1371600" y="2743200"/>
            <a:ext cx="9144000" cy="320040"/>
          </a:xfrm>
          <a:prstGeom prst="rect">
            <a:avLst/>
          </a:prstGeom>
          <a:noFill/>
        </p:spPr>
        <p:txBody>
          <a:bodyPr wrap="square">
            <a:spAutoFit/>
          </a:bodyPr>
          <a:lstStyle/>
          <a:p>
            <a:pPr algn="l">
              <a:defRPr sz="1700" b="1">
                <a:solidFill>
                  <a:srgbClr val="FFFFFF"/>
                </a:solidFill>
                <a:latin typeface="Calibri"/>
              </a:defRPr>
            </a:pPr>
            <a:r>
              <a:t>1. Studied real UAI Module exports</a:t>
            </a:r>
          </a:p>
        </p:txBody>
      </p:sp>
      <p:sp>
        <p:nvSpPr>
          <p:cNvPr id="6" name="TextBox 5"/>
          <p:cNvSpPr txBox="1"/>
          <p:nvPr/>
        </p:nvSpPr>
        <p:spPr>
          <a:xfrm>
            <a:off x="1371600" y="3063240"/>
            <a:ext cx="9144000" cy="457200"/>
          </a:xfrm>
          <a:prstGeom prst="rect">
            <a:avLst/>
          </a:prstGeom>
          <a:noFill/>
        </p:spPr>
        <p:txBody>
          <a:bodyPr wrap="square">
            <a:spAutoFit/>
          </a:bodyPr>
          <a:lstStyle/>
          <a:p>
            <a:pPr algn="l">
              <a:defRPr sz="1400" b="0">
                <a:solidFill>
                  <a:srgbClr val="94A3B8"/>
                </a:solidFill>
                <a:latin typeface="Calibri"/>
              </a:defRPr>
            </a:pPr>
            <a:r>
              <a:t>We started by examining actual module exports together — understanding the structure, the style guide expectations, and where issues tend to hide.</a:t>
            </a:r>
          </a:p>
        </p:txBody>
      </p:sp>
      <p:sp>
        <p:nvSpPr>
          <p:cNvPr id="7" name="TextBox 6"/>
          <p:cNvSpPr txBox="1"/>
          <p:nvPr/>
        </p:nvSpPr>
        <p:spPr>
          <a:xfrm>
            <a:off x="1371600" y="3703320"/>
            <a:ext cx="9144000" cy="320040"/>
          </a:xfrm>
          <a:prstGeom prst="rect">
            <a:avLst/>
          </a:prstGeom>
          <a:noFill/>
        </p:spPr>
        <p:txBody>
          <a:bodyPr wrap="square">
            <a:spAutoFit/>
          </a:bodyPr>
          <a:lstStyle/>
          <a:p>
            <a:pPr algn="l">
              <a:defRPr sz="1700" b="1">
                <a:solidFill>
                  <a:srgbClr val="FFFFFF"/>
                </a:solidFill>
                <a:latin typeface="Calibri"/>
              </a:defRPr>
            </a:pPr>
            <a:r>
              <a:t>2. Wrote rules, tested against real content, iterated</a:t>
            </a:r>
          </a:p>
        </p:txBody>
      </p:sp>
      <p:sp>
        <p:nvSpPr>
          <p:cNvPr id="8" name="TextBox 7"/>
          <p:cNvSpPr txBox="1"/>
          <p:nvPr/>
        </p:nvSpPr>
        <p:spPr>
          <a:xfrm>
            <a:off x="1371600" y="4023359"/>
            <a:ext cx="9144000" cy="457200"/>
          </a:xfrm>
          <a:prstGeom prst="rect">
            <a:avLst/>
          </a:prstGeom>
          <a:noFill/>
        </p:spPr>
        <p:txBody>
          <a:bodyPr wrap="square">
            <a:spAutoFit/>
          </a:bodyPr>
          <a:lstStyle/>
          <a:p>
            <a:pPr algn="l">
              <a:defRPr sz="1400" b="0">
                <a:solidFill>
                  <a:srgbClr val="94A3B8"/>
                </a:solidFill>
                <a:latin typeface="Calibri"/>
              </a:defRPr>
            </a:pPr>
            <a:r>
              <a:t>Each rule was crafted, tested against multiple module exports, and refined until it matched real-world expectations.</a:t>
            </a:r>
          </a:p>
        </p:txBody>
      </p:sp>
      <p:sp>
        <p:nvSpPr>
          <p:cNvPr id="9" name="TextBox 8"/>
          <p:cNvSpPr txBox="1"/>
          <p:nvPr/>
        </p:nvSpPr>
        <p:spPr>
          <a:xfrm>
            <a:off x="1371600" y="4663440"/>
            <a:ext cx="9144000" cy="320040"/>
          </a:xfrm>
          <a:prstGeom prst="rect">
            <a:avLst/>
          </a:prstGeom>
          <a:noFill/>
        </p:spPr>
        <p:txBody>
          <a:bodyPr wrap="square">
            <a:spAutoFit/>
          </a:bodyPr>
          <a:lstStyle/>
          <a:p>
            <a:pPr algn="l">
              <a:defRPr sz="1700" b="1">
                <a:solidFill>
                  <a:srgbClr val="FFFFFF"/>
                </a:solidFill>
                <a:latin typeface="Calibri"/>
              </a:defRPr>
            </a:pPr>
            <a:r>
              <a:t>3. Assigned specialized AI agents to different concerns</a:t>
            </a:r>
          </a:p>
        </p:txBody>
      </p:sp>
      <p:sp>
        <p:nvSpPr>
          <p:cNvPr id="10" name="TextBox 9"/>
          <p:cNvSpPr txBox="1"/>
          <p:nvPr/>
        </p:nvSpPr>
        <p:spPr>
          <a:xfrm>
            <a:off x="1371600" y="4983479"/>
            <a:ext cx="9144000" cy="457200"/>
          </a:xfrm>
          <a:prstGeom prst="rect">
            <a:avLst/>
          </a:prstGeom>
          <a:noFill/>
        </p:spPr>
        <p:txBody>
          <a:bodyPr wrap="square">
            <a:spAutoFit/>
          </a:bodyPr>
          <a:lstStyle/>
          <a:p>
            <a:pPr algn="l">
              <a:defRPr sz="1400" b="0">
                <a:solidFill>
                  <a:srgbClr val="94A3B8"/>
                </a:solidFill>
                <a:latin typeface="Calibri"/>
              </a:defRPr>
            </a:pPr>
            <a:r>
              <a:t>Security, bug detection, UI/UX, user flow, accessibility — each area got focused attention from dedicated AI agents.</a:t>
            </a:r>
          </a:p>
        </p:txBody>
      </p:sp>
      <p:sp>
        <p:nvSpPr>
          <p:cNvPr id="11" name="TextBox 10"/>
          <p:cNvSpPr txBox="1"/>
          <p:nvPr/>
        </p:nvSpPr>
        <p:spPr>
          <a:xfrm>
            <a:off x="1371600" y="5623559"/>
            <a:ext cx="9144000" cy="320040"/>
          </a:xfrm>
          <a:prstGeom prst="rect">
            <a:avLst/>
          </a:prstGeom>
          <a:noFill/>
        </p:spPr>
        <p:txBody>
          <a:bodyPr wrap="square">
            <a:spAutoFit/>
          </a:bodyPr>
          <a:lstStyle/>
          <a:p>
            <a:pPr algn="l">
              <a:defRPr sz="1700" b="1">
                <a:solidFill>
                  <a:srgbClr val="FFFFFF"/>
                </a:solidFill>
                <a:latin typeface="Calibri"/>
              </a:defRPr>
            </a:pPr>
            <a:r>
              <a:t>4. Continuous refinement through real-world testing</a:t>
            </a:r>
          </a:p>
        </p:txBody>
      </p:sp>
      <p:sp>
        <p:nvSpPr>
          <p:cNvPr id="12" name="TextBox 11"/>
          <p:cNvSpPr txBox="1"/>
          <p:nvPr/>
        </p:nvSpPr>
        <p:spPr>
          <a:xfrm>
            <a:off x="1371600" y="5943599"/>
            <a:ext cx="9144000" cy="457200"/>
          </a:xfrm>
          <a:prstGeom prst="rect">
            <a:avLst/>
          </a:prstGeom>
          <a:noFill/>
        </p:spPr>
        <p:txBody>
          <a:bodyPr wrap="square">
            <a:spAutoFit/>
          </a:bodyPr>
          <a:lstStyle/>
          <a:p>
            <a:pPr algn="l">
              <a:defRPr sz="1400" b="0">
                <a:solidFill>
                  <a:srgbClr val="94A3B8"/>
                </a:solidFill>
                <a:latin typeface="Calibri"/>
              </a:defRPr>
            </a:pPr>
            <a:r>
              <a:t>We kept running new modules through the tool, discovering edge cases, growing from a handful of checks to 95 comprehensive rules.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457200"/>
            <a:ext cx="4572000" cy="365760"/>
          </a:xfrm>
          <a:prstGeom prst="rect">
            <a:avLst/>
          </a:prstGeom>
          <a:noFill/>
        </p:spPr>
        <p:txBody>
          <a:bodyPr wrap="square">
            <a:spAutoFit/>
          </a:bodyPr>
          <a:lstStyle/>
          <a:p>
            <a:pPr algn="l">
              <a:defRPr sz="1200" b="1">
                <a:solidFill>
                  <a:srgbClr val="94A3B8"/>
                </a:solidFill>
                <a:latin typeface="Calibri"/>
              </a:defRPr>
            </a:pPr>
            <a:r>
              <a:t>AI AT WORK</a:t>
            </a:r>
          </a:p>
        </p:txBody>
      </p:sp>
      <p:sp>
        <p:nvSpPr>
          <p:cNvPr id="3" name="TextBox 2"/>
          <p:cNvSpPr txBox="1"/>
          <p:nvPr/>
        </p:nvSpPr>
        <p:spPr>
          <a:xfrm>
            <a:off x="731520" y="914400"/>
            <a:ext cx="10058400" cy="640080"/>
          </a:xfrm>
          <a:prstGeom prst="rect">
            <a:avLst/>
          </a:prstGeom>
          <a:noFill/>
        </p:spPr>
        <p:txBody>
          <a:bodyPr wrap="square">
            <a:spAutoFit/>
          </a:bodyPr>
          <a:lstStyle/>
          <a:p>
            <a:pPr algn="l">
              <a:defRPr sz="3600" b="1">
                <a:solidFill>
                  <a:srgbClr val="FFFFFF"/>
                </a:solidFill>
                <a:latin typeface="Calibri"/>
              </a:defRPr>
            </a:pPr>
            <a:r>
              <a:t>Multiple AI agents, one mission</a:t>
            </a:r>
          </a:p>
        </p:txBody>
      </p:sp>
      <p:sp>
        <p:nvSpPr>
          <p:cNvPr id="4" name="TextBox 3"/>
          <p:cNvSpPr txBox="1"/>
          <p:nvPr/>
        </p:nvSpPr>
        <p:spPr>
          <a:xfrm>
            <a:off x="731520" y="1554480"/>
            <a:ext cx="9144000" cy="548640"/>
          </a:xfrm>
          <a:prstGeom prst="rect">
            <a:avLst/>
          </a:prstGeom>
          <a:noFill/>
        </p:spPr>
        <p:txBody>
          <a:bodyPr wrap="square">
            <a:spAutoFit/>
          </a:bodyPr>
          <a:lstStyle/>
          <a:p>
            <a:pPr algn="l">
              <a:defRPr sz="1600" b="0">
                <a:solidFill>
                  <a:srgbClr val="94A3B8"/>
                </a:solidFill>
                <a:latin typeface="Calibri"/>
              </a:defRPr>
            </a:pPr>
            <a:r>
              <a:t>We orchestrated multiple specialized agents, each focused on a different dimension of quality. This is what thoughtful AI collaboration looks like.</a:t>
            </a:r>
          </a:p>
        </p:txBody>
      </p:sp>
      <p:sp>
        <p:nvSpPr>
          <p:cNvPr id="5" name="Rounded Rectangle 4"/>
          <p:cNvSpPr/>
          <p:nvPr/>
        </p:nvSpPr>
        <p:spPr>
          <a:xfrm>
            <a:off x="731520" y="2468880"/>
            <a:ext cx="3200400" cy="1645920"/>
          </a:xfrm>
          <a:prstGeom prst="roundRect">
            <a:avLst/>
          </a:prstGeom>
          <a:solidFill>
            <a:srgbClr val="2222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600" b="1">
                <a:solidFill>
                  <a:srgbClr val="FFFFFF"/>
                </a:solidFill>
                <a:latin typeface="Calibri"/>
              </a:defRPr>
            </a:pPr>
            <a:r>
              <a:t>Security Agent</a:t>
            </a:r>
          </a:p>
          <a:p>
            <a:pPr algn="ctr">
              <a:defRPr sz="1200">
                <a:solidFill>
                  <a:srgbClr val="94A3B8"/>
                </a:solidFill>
                <a:latin typeface="Calibri"/>
              </a:defRPr>
            </a:pPr>
            <a:r>
              <a:t>Safe file handling, prompt injection defense, data protection</a:t>
            </a:r>
          </a:p>
        </p:txBody>
      </p:sp>
      <p:sp>
        <p:nvSpPr>
          <p:cNvPr id="6" name="Rounded Rectangle 5"/>
          <p:cNvSpPr/>
          <p:nvPr/>
        </p:nvSpPr>
        <p:spPr>
          <a:xfrm>
            <a:off x="4206240" y="2468880"/>
            <a:ext cx="3200400" cy="1645920"/>
          </a:xfrm>
          <a:prstGeom prst="roundRect">
            <a:avLst/>
          </a:prstGeom>
          <a:solidFill>
            <a:srgbClr val="2222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600" b="1">
                <a:solidFill>
                  <a:srgbClr val="FFFFFF"/>
                </a:solidFill>
                <a:latin typeface="Calibri"/>
              </a:defRPr>
            </a:pPr>
            <a:r>
              <a:t>Bug Detection Agent</a:t>
            </a:r>
          </a:p>
          <a:p>
            <a:pPr algn="ctr">
              <a:defRPr sz="1200">
                <a:solidFill>
                  <a:srgbClr val="94A3B8"/>
                </a:solidFill>
                <a:latin typeface="Calibri"/>
              </a:defRPr>
            </a:pPr>
            <a:r>
              <a:t>Edge cases in XML parsing, rule logic, and fix operations</a:t>
            </a:r>
          </a:p>
        </p:txBody>
      </p:sp>
      <p:sp>
        <p:nvSpPr>
          <p:cNvPr id="7" name="Rounded Rectangle 6"/>
          <p:cNvSpPr/>
          <p:nvPr/>
        </p:nvSpPr>
        <p:spPr>
          <a:xfrm>
            <a:off x="7680960" y="2468880"/>
            <a:ext cx="3200400" cy="1645920"/>
          </a:xfrm>
          <a:prstGeom prst="roundRect">
            <a:avLst/>
          </a:prstGeom>
          <a:solidFill>
            <a:srgbClr val="2222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600" b="1">
                <a:solidFill>
                  <a:srgbClr val="FFFFFF"/>
                </a:solidFill>
                <a:latin typeface="Calibri"/>
              </a:defRPr>
            </a:pPr>
            <a:r>
              <a:t>UI/UX Agent</a:t>
            </a:r>
          </a:p>
          <a:p>
            <a:pPr algn="ctr">
              <a:defRPr sz="1200">
                <a:solidFill>
                  <a:srgbClr val="94A3B8"/>
                </a:solidFill>
                <a:latin typeface="Calibri"/>
              </a:defRPr>
            </a:pPr>
            <a:r>
              <a:t>Interface designed for clarity — findings at a glance, one-click action</a:t>
            </a:r>
          </a:p>
        </p:txBody>
      </p:sp>
      <p:sp>
        <p:nvSpPr>
          <p:cNvPr id="8" name="Rounded Rectangle 7"/>
          <p:cNvSpPr/>
          <p:nvPr/>
        </p:nvSpPr>
        <p:spPr>
          <a:xfrm>
            <a:off x="731520" y="4389120"/>
            <a:ext cx="3200400" cy="1645920"/>
          </a:xfrm>
          <a:prstGeom prst="roundRect">
            <a:avLst/>
          </a:prstGeom>
          <a:solidFill>
            <a:srgbClr val="2222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600" b="1">
                <a:solidFill>
                  <a:srgbClr val="FFFFFF"/>
                </a:solidFill>
                <a:latin typeface="Calibri"/>
              </a:defRPr>
            </a:pPr>
            <a:r>
              <a:t>User Flow Agent</a:t>
            </a:r>
          </a:p>
          <a:p>
            <a:pPr algn="ctr">
              <a:defRPr sz="1200">
                <a:solidFill>
                  <a:srgbClr val="94A3B8"/>
                </a:solidFill>
                <a:latin typeface="Calibri"/>
              </a:defRPr>
            </a:pPr>
            <a:r>
              <a:t>End-to-end workflow: upload, review, fix, export</a:t>
            </a:r>
          </a:p>
        </p:txBody>
      </p:sp>
      <p:sp>
        <p:nvSpPr>
          <p:cNvPr id="9" name="Rounded Rectangle 8"/>
          <p:cNvSpPr/>
          <p:nvPr/>
        </p:nvSpPr>
        <p:spPr>
          <a:xfrm>
            <a:off x="4206240" y="4389120"/>
            <a:ext cx="3200400" cy="1645920"/>
          </a:xfrm>
          <a:prstGeom prst="roundRect">
            <a:avLst/>
          </a:prstGeom>
          <a:solidFill>
            <a:srgbClr val="2222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600" b="1">
                <a:solidFill>
                  <a:srgbClr val="FFFFFF"/>
                </a:solidFill>
                <a:latin typeface="Calibri"/>
              </a:defRPr>
            </a:pPr>
            <a:r>
              <a:t>Content Quality Agent</a:t>
            </a:r>
          </a:p>
          <a:p>
            <a:pPr algn="ctr">
              <a:defRPr sz="1200">
                <a:solidFill>
                  <a:srgbClr val="94A3B8"/>
                </a:solidFill>
                <a:latin typeface="Calibri"/>
              </a:defRPr>
            </a:pPr>
            <a:r>
              <a:t>AI evaluates explanations, terminology, and learning outcomes</a:t>
            </a:r>
          </a:p>
        </p:txBody>
      </p:sp>
      <p:sp>
        <p:nvSpPr>
          <p:cNvPr id="10" name="Rounded Rectangle 9"/>
          <p:cNvSpPr/>
          <p:nvPr/>
        </p:nvSpPr>
        <p:spPr>
          <a:xfrm>
            <a:off x="7680960" y="4389120"/>
            <a:ext cx="3200400" cy="1645920"/>
          </a:xfrm>
          <a:prstGeom prst="roundRect">
            <a:avLst/>
          </a:prstGeom>
          <a:solidFill>
            <a:srgbClr val="2222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600" b="1">
                <a:solidFill>
                  <a:srgbClr val="FFFFFF"/>
                </a:solidFill>
                <a:latin typeface="Calibri"/>
              </a:defRPr>
            </a:pPr>
            <a:r>
              <a:t>Testing Agent</a:t>
            </a:r>
          </a:p>
          <a:p>
            <a:pPr algn="ctr">
              <a:defRPr sz="1200">
                <a:solidFill>
                  <a:srgbClr val="94A3B8"/>
                </a:solidFill>
                <a:latin typeface="Calibri"/>
              </a:defRPr>
            </a:pPr>
            <a:r>
              <a:t>254 tests ensuring every rule, fix, and integration works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457200"/>
            <a:ext cx="4572000" cy="365760"/>
          </a:xfrm>
          <a:prstGeom prst="rect">
            <a:avLst/>
          </a:prstGeom>
          <a:noFill/>
        </p:spPr>
        <p:txBody>
          <a:bodyPr wrap="square">
            <a:spAutoFit/>
          </a:bodyPr>
          <a:lstStyle/>
          <a:p>
            <a:pPr algn="l">
              <a:defRPr sz="1200" b="1">
                <a:solidFill>
                  <a:srgbClr val="94A3B8"/>
                </a:solidFill>
                <a:latin typeface="Calibri"/>
              </a:defRPr>
            </a:pPr>
            <a:r>
              <a:t>BENEFITS</a:t>
            </a:r>
          </a:p>
        </p:txBody>
      </p:sp>
      <p:sp>
        <p:nvSpPr>
          <p:cNvPr id="3" name="TextBox 2"/>
          <p:cNvSpPr txBox="1"/>
          <p:nvPr/>
        </p:nvSpPr>
        <p:spPr>
          <a:xfrm>
            <a:off x="731520" y="914400"/>
            <a:ext cx="9144000" cy="640080"/>
          </a:xfrm>
          <a:prstGeom prst="rect">
            <a:avLst/>
          </a:prstGeom>
          <a:noFill/>
        </p:spPr>
        <p:txBody>
          <a:bodyPr wrap="square">
            <a:spAutoFit/>
          </a:bodyPr>
          <a:lstStyle/>
          <a:p>
            <a:pPr algn="l">
              <a:defRPr sz="3600" b="1">
                <a:solidFill>
                  <a:srgbClr val="FFFFFF"/>
                </a:solidFill>
                <a:latin typeface="Calibri"/>
              </a:defRPr>
            </a:pPr>
            <a:r>
              <a:t>What Fixatron means for UAI</a:t>
            </a:r>
          </a:p>
        </p:txBody>
      </p:sp>
      <p:sp>
        <p:nvSpPr>
          <p:cNvPr id="4" name="TextBox 3"/>
          <p:cNvSpPr txBox="1"/>
          <p:nvPr/>
        </p:nvSpPr>
        <p:spPr>
          <a:xfrm>
            <a:off x="731520" y="1828800"/>
            <a:ext cx="5029200" cy="320040"/>
          </a:xfrm>
          <a:prstGeom prst="rect">
            <a:avLst/>
          </a:prstGeom>
          <a:noFill/>
        </p:spPr>
        <p:txBody>
          <a:bodyPr wrap="square">
            <a:spAutoFit/>
          </a:bodyPr>
          <a:lstStyle/>
          <a:p>
            <a:pPr algn="l">
              <a:defRPr sz="1800" b="1">
                <a:solidFill>
                  <a:srgbClr val="FFFFFF"/>
                </a:solidFill>
                <a:latin typeface="Calibri"/>
              </a:defRPr>
            </a:pPr>
            <a:r>
              <a:t>Seconds instead of hours</a:t>
            </a:r>
          </a:p>
        </p:txBody>
      </p:sp>
      <p:sp>
        <p:nvSpPr>
          <p:cNvPr id="5" name="TextBox 4"/>
          <p:cNvSpPr txBox="1"/>
          <p:nvPr/>
        </p:nvSpPr>
        <p:spPr>
          <a:xfrm>
            <a:off x="731520" y="2194560"/>
            <a:ext cx="5029200" cy="640080"/>
          </a:xfrm>
          <a:prstGeom prst="rect">
            <a:avLst/>
          </a:prstGeom>
          <a:noFill/>
        </p:spPr>
        <p:txBody>
          <a:bodyPr wrap="square">
            <a:spAutoFit/>
          </a:bodyPr>
          <a:lstStyle/>
          <a:p>
            <a:pPr algn="l">
              <a:defRPr sz="1400" b="0">
                <a:solidFill>
                  <a:srgbClr val="94A3B8"/>
                </a:solidFill>
                <a:latin typeface="Calibri"/>
              </a:defRPr>
            </a:pPr>
            <a:r>
              <a:t>Full QA analysis of a UAI Module in under 5 seconds. What used to take hours is now instant.</a:t>
            </a:r>
          </a:p>
        </p:txBody>
      </p:sp>
      <p:sp>
        <p:nvSpPr>
          <p:cNvPr id="6" name="TextBox 5"/>
          <p:cNvSpPr txBox="1"/>
          <p:nvPr/>
        </p:nvSpPr>
        <p:spPr>
          <a:xfrm>
            <a:off x="731520" y="3383280"/>
            <a:ext cx="5029200" cy="320040"/>
          </a:xfrm>
          <a:prstGeom prst="rect">
            <a:avLst/>
          </a:prstGeom>
          <a:noFill/>
        </p:spPr>
        <p:txBody>
          <a:bodyPr wrap="square">
            <a:spAutoFit/>
          </a:bodyPr>
          <a:lstStyle/>
          <a:p>
            <a:pPr algn="l">
              <a:defRPr sz="1800" b="1">
                <a:solidFill>
                  <a:srgbClr val="FFFFFF"/>
                </a:solidFill>
                <a:latin typeface="Calibri"/>
              </a:defRPr>
            </a:pPr>
            <a:r>
              <a:t>Comprehensive coverage</a:t>
            </a:r>
          </a:p>
        </p:txBody>
      </p:sp>
      <p:sp>
        <p:nvSpPr>
          <p:cNvPr id="7" name="TextBox 6"/>
          <p:cNvSpPr txBox="1"/>
          <p:nvPr/>
        </p:nvSpPr>
        <p:spPr>
          <a:xfrm>
            <a:off x="731520" y="3749040"/>
            <a:ext cx="5029200" cy="640080"/>
          </a:xfrm>
          <a:prstGeom prst="rect">
            <a:avLst/>
          </a:prstGeom>
          <a:noFill/>
        </p:spPr>
        <p:txBody>
          <a:bodyPr wrap="square">
            <a:spAutoFit/>
          </a:bodyPr>
          <a:lstStyle/>
          <a:p>
            <a:pPr algn="l">
              <a:defRPr sz="1400" b="0">
                <a:solidFill>
                  <a:srgbClr val="94A3B8"/>
                </a:solidFill>
                <a:latin typeface="Calibri"/>
              </a:defRPr>
            </a:pPr>
            <a:r>
              <a:t>95 rules checking every XML attribute, naming convention, and content pattern — consistently, every time.</a:t>
            </a:r>
          </a:p>
        </p:txBody>
      </p:sp>
      <p:sp>
        <p:nvSpPr>
          <p:cNvPr id="8" name="TextBox 7"/>
          <p:cNvSpPr txBox="1"/>
          <p:nvPr/>
        </p:nvSpPr>
        <p:spPr>
          <a:xfrm>
            <a:off x="731520" y="4937760"/>
            <a:ext cx="5029200" cy="320040"/>
          </a:xfrm>
          <a:prstGeom prst="rect">
            <a:avLst/>
          </a:prstGeom>
          <a:noFill/>
        </p:spPr>
        <p:txBody>
          <a:bodyPr wrap="square">
            <a:spAutoFit/>
          </a:bodyPr>
          <a:lstStyle/>
          <a:p>
            <a:pPr algn="l">
              <a:defRPr sz="1800" b="1">
                <a:solidFill>
                  <a:srgbClr val="FFFFFF"/>
                </a:solidFill>
                <a:latin typeface="Calibri"/>
              </a:defRPr>
            </a:pPr>
            <a:r>
              <a:t>One-click fixes</a:t>
            </a:r>
          </a:p>
        </p:txBody>
      </p:sp>
      <p:sp>
        <p:nvSpPr>
          <p:cNvPr id="9" name="TextBox 8"/>
          <p:cNvSpPr txBox="1"/>
          <p:nvPr/>
        </p:nvSpPr>
        <p:spPr>
          <a:xfrm>
            <a:off x="731520" y="5303520"/>
            <a:ext cx="5029200" cy="640080"/>
          </a:xfrm>
          <a:prstGeom prst="rect">
            <a:avLst/>
          </a:prstGeom>
          <a:noFill/>
        </p:spPr>
        <p:txBody>
          <a:bodyPr wrap="square">
            <a:spAutoFit/>
          </a:bodyPr>
          <a:lstStyle/>
          <a:p>
            <a:pPr algn="l">
              <a:defRPr sz="1400" b="0">
                <a:solidFill>
                  <a:srgbClr val="94A3B8"/>
                </a:solidFill>
                <a:latin typeface="Calibri"/>
              </a:defRPr>
            </a:pPr>
            <a:r>
              <a:t>16 common issues are auto-corrected. Apply a fix, export the corrected module, and re-import — done.</a:t>
            </a:r>
          </a:p>
        </p:txBody>
      </p:sp>
      <p:sp>
        <p:nvSpPr>
          <p:cNvPr id="10" name="TextBox 9"/>
          <p:cNvSpPr txBox="1"/>
          <p:nvPr/>
        </p:nvSpPr>
        <p:spPr>
          <a:xfrm>
            <a:off x="6400800" y="1828800"/>
            <a:ext cx="5029200" cy="320040"/>
          </a:xfrm>
          <a:prstGeom prst="rect">
            <a:avLst/>
          </a:prstGeom>
          <a:noFill/>
        </p:spPr>
        <p:txBody>
          <a:bodyPr wrap="square">
            <a:spAutoFit/>
          </a:bodyPr>
          <a:lstStyle/>
          <a:p>
            <a:pPr algn="l">
              <a:defRPr sz="1800" b="1">
                <a:solidFill>
                  <a:srgbClr val="FFFFFF"/>
                </a:solidFill>
                <a:latin typeface="Calibri"/>
              </a:defRPr>
            </a:pPr>
            <a:r>
              <a:t>AI-powered content review</a:t>
            </a:r>
          </a:p>
        </p:txBody>
      </p:sp>
      <p:sp>
        <p:nvSpPr>
          <p:cNvPr id="11" name="TextBox 10"/>
          <p:cNvSpPr txBox="1"/>
          <p:nvPr/>
        </p:nvSpPr>
        <p:spPr>
          <a:xfrm>
            <a:off x="6400800" y="2194560"/>
            <a:ext cx="5029200" cy="640080"/>
          </a:xfrm>
          <a:prstGeom prst="rect">
            <a:avLst/>
          </a:prstGeom>
          <a:noFill/>
        </p:spPr>
        <p:txBody>
          <a:bodyPr wrap="square">
            <a:spAutoFit/>
          </a:bodyPr>
          <a:lstStyle/>
          <a:p>
            <a:pPr algn="l">
              <a:defRPr sz="1400" b="0">
                <a:solidFill>
                  <a:srgbClr val="94A3B8"/>
                </a:solidFill>
                <a:latin typeface="Calibri"/>
              </a:defRPr>
            </a:pPr>
            <a:r>
              <a:t>Claude evaluates explanation quality, terminology consistency, and learning completeness — beyond pattern matching.</a:t>
            </a:r>
          </a:p>
        </p:txBody>
      </p:sp>
      <p:sp>
        <p:nvSpPr>
          <p:cNvPr id="12" name="TextBox 11"/>
          <p:cNvSpPr txBox="1"/>
          <p:nvPr/>
        </p:nvSpPr>
        <p:spPr>
          <a:xfrm>
            <a:off x="6400800" y="3383280"/>
            <a:ext cx="5029200" cy="320040"/>
          </a:xfrm>
          <a:prstGeom prst="rect">
            <a:avLst/>
          </a:prstGeom>
          <a:noFill/>
        </p:spPr>
        <p:txBody>
          <a:bodyPr wrap="square">
            <a:spAutoFit/>
          </a:bodyPr>
          <a:lstStyle/>
          <a:p>
            <a:pPr algn="l">
              <a:defRPr sz="1800" b="1">
                <a:solidFill>
                  <a:srgbClr val="FFFFFF"/>
                </a:solidFill>
                <a:latin typeface="Calibri"/>
              </a:defRPr>
            </a:pPr>
            <a:r>
              <a:t>Consistent quality baseline</a:t>
            </a:r>
          </a:p>
        </p:txBody>
      </p:sp>
      <p:sp>
        <p:nvSpPr>
          <p:cNvPr id="13" name="TextBox 12"/>
          <p:cNvSpPr txBox="1"/>
          <p:nvPr/>
        </p:nvSpPr>
        <p:spPr>
          <a:xfrm>
            <a:off x="6400800" y="3749040"/>
            <a:ext cx="5029200" cy="640080"/>
          </a:xfrm>
          <a:prstGeom prst="rect">
            <a:avLst/>
          </a:prstGeom>
          <a:noFill/>
        </p:spPr>
        <p:txBody>
          <a:bodyPr wrap="square">
            <a:spAutoFit/>
          </a:bodyPr>
          <a:lstStyle/>
          <a:p>
            <a:pPr algn="l">
              <a:defRPr sz="1400" b="0">
                <a:solidFill>
                  <a:srgbClr val="94A3B8"/>
                </a:solidFill>
                <a:latin typeface="Calibri"/>
              </a:defRPr>
            </a:pPr>
            <a:r>
              <a:t>Every module is measured against the same standard, every time.</a:t>
            </a:r>
          </a:p>
        </p:txBody>
      </p:sp>
      <p:sp>
        <p:nvSpPr>
          <p:cNvPr id="14" name="TextBox 13"/>
          <p:cNvSpPr txBox="1"/>
          <p:nvPr/>
        </p:nvSpPr>
        <p:spPr>
          <a:xfrm>
            <a:off x="6400800" y="4937760"/>
            <a:ext cx="5029200" cy="320040"/>
          </a:xfrm>
          <a:prstGeom prst="rect">
            <a:avLst/>
          </a:prstGeom>
          <a:noFill/>
        </p:spPr>
        <p:txBody>
          <a:bodyPr wrap="square">
            <a:spAutoFit/>
          </a:bodyPr>
          <a:lstStyle/>
          <a:p>
            <a:pPr algn="l">
              <a:defRPr sz="1800" b="1">
                <a:solidFill>
                  <a:srgbClr val="FFFFFF"/>
                </a:solidFill>
                <a:latin typeface="Calibri"/>
              </a:defRPr>
            </a:pPr>
            <a:r>
              <a:t>Faster time to learners</a:t>
            </a:r>
          </a:p>
        </p:txBody>
      </p:sp>
      <p:sp>
        <p:nvSpPr>
          <p:cNvPr id="15" name="TextBox 14"/>
          <p:cNvSpPr txBox="1"/>
          <p:nvPr/>
        </p:nvSpPr>
        <p:spPr>
          <a:xfrm>
            <a:off x="6400800" y="5303520"/>
            <a:ext cx="5029200" cy="640080"/>
          </a:xfrm>
          <a:prstGeom prst="rect">
            <a:avLst/>
          </a:prstGeom>
          <a:noFill/>
        </p:spPr>
        <p:txBody>
          <a:bodyPr wrap="square">
            <a:spAutoFit/>
          </a:bodyPr>
          <a:lstStyle/>
          <a:p>
            <a:pPr algn="l">
              <a:defRPr sz="1400" b="0">
                <a:solidFill>
                  <a:srgbClr val="94A3B8"/>
                </a:solidFill>
                <a:latin typeface="Calibri"/>
              </a:defRPr>
            </a:pPr>
            <a:r>
              <a:t>Content authors get instant feedback. Modules move from draft to published faster.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457200"/>
            <a:ext cx="4572000" cy="365760"/>
          </a:xfrm>
          <a:prstGeom prst="rect">
            <a:avLst/>
          </a:prstGeom>
          <a:noFill/>
        </p:spPr>
        <p:txBody>
          <a:bodyPr wrap="square">
            <a:spAutoFit/>
          </a:bodyPr>
          <a:lstStyle/>
          <a:p>
            <a:pPr algn="l">
              <a:defRPr sz="1200" b="1">
                <a:solidFill>
                  <a:srgbClr val="94A3B8"/>
                </a:solidFill>
                <a:latin typeface="Calibri"/>
              </a:defRPr>
            </a:pPr>
            <a:r>
              <a:t>IMPACT</a:t>
            </a:r>
          </a:p>
        </p:txBody>
      </p:sp>
      <p:sp>
        <p:nvSpPr>
          <p:cNvPr id="3" name="TextBox 2"/>
          <p:cNvSpPr txBox="1"/>
          <p:nvPr/>
        </p:nvSpPr>
        <p:spPr>
          <a:xfrm>
            <a:off x="731520" y="914400"/>
            <a:ext cx="9144000" cy="640080"/>
          </a:xfrm>
          <a:prstGeom prst="rect">
            <a:avLst/>
          </a:prstGeom>
          <a:noFill/>
        </p:spPr>
        <p:txBody>
          <a:bodyPr wrap="square">
            <a:spAutoFit/>
          </a:bodyPr>
          <a:lstStyle/>
          <a:p>
            <a:pPr algn="l">
              <a:defRPr sz="3600" b="1">
                <a:solidFill>
                  <a:srgbClr val="FFFFFF"/>
                </a:solidFill>
                <a:latin typeface="Calibri"/>
              </a:defRPr>
            </a:pPr>
            <a:r>
              <a:t>Before vs. After</a:t>
            </a:r>
          </a:p>
        </p:txBody>
      </p:sp>
      <p:sp>
        <p:nvSpPr>
          <p:cNvPr id="4" name="Rounded Rectangle 3"/>
          <p:cNvSpPr/>
          <p:nvPr/>
        </p:nvSpPr>
        <p:spPr>
          <a:xfrm>
            <a:off x="731520" y="1828800"/>
            <a:ext cx="5029200" cy="3474720"/>
          </a:xfrm>
          <a:prstGeom prst="roundRect">
            <a:avLst/>
          </a:prstGeom>
          <a:solidFill>
            <a:srgbClr val="2A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920240"/>
            <a:ext cx="4114800" cy="365760"/>
          </a:xfrm>
          <a:prstGeom prst="rect">
            <a:avLst/>
          </a:prstGeom>
          <a:noFill/>
        </p:spPr>
        <p:txBody>
          <a:bodyPr wrap="square">
            <a:spAutoFit/>
          </a:bodyPr>
          <a:lstStyle/>
          <a:p>
            <a:pPr algn="l">
              <a:defRPr sz="1800" b="1">
                <a:solidFill>
                  <a:srgbClr val="EF4444"/>
                </a:solidFill>
                <a:latin typeface="Calibri"/>
              </a:defRPr>
            </a:pPr>
            <a:r>
              <a:t>Before Fixatron</a:t>
            </a:r>
          </a:p>
        </p:txBody>
      </p:sp>
      <p:sp>
        <p:nvSpPr>
          <p:cNvPr id="6" name="TextBox 5"/>
          <p:cNvSpPr txBox="1"/>
          <p:nvPr/>
        </p:nvSpPr>
        <p:spPr>
          <a:xfrm>
            <a:off x="1005840" y="2468880"/>
            <a:ext cx="4572000" cy="320040"/>
          </a:xfrm>
          <a:prstGeom prst="rect">
            <a:avLst/>
          </a:prstGeom>
          <a:noFill/>
        </p:spPr>
        <p:txBody>
          <a:bodyPr wrap="square">
            <a:spAutoFit/>
          </a:bodyPr>
          <a:lstStyle/>
          <a:p>
            <a:pPr algn="l">
              <a:defRPr sz="1400" b="0">
                <a:solidFill>
                  <a:srgbClr val="E2E8F0"/>
                </a:solidFill>
                <a:latin typeface="Calibri"/>
              </a:defRPr>
            </a:pPr>
            <a:r>
              <a:t>✕  Hours of review per module</a:t>
            </a:r>
          </a:p>
        </p:txBody>
      </p:sp>
      <p:sp>
        <p:nvSpPr>
          <p:cNvPr id="7" name="TextBox 6"/>
          <p:cNvSpPr txBox="1"/>
          <p:nvPr/>
        </p:nvSpPr>
        <p:spPr>
          <a:xfrm>
            <a:off x="1005840" y="2880360"/>
            <a:ext cx="4572000" cy="320040"/>
          </a:xfrm>
          <a:prstGeom prst="rect">
            <a:avLst/>
          </a:prstGeom>
          <a:noFill/>
        </p:spPr>
        <p:txBody>
          <a:bodyPr wrap="square">
            <a:spAutoFit/>
          </a:bodyPr>
          <a:lstStyle/>
          <a:p>
            <a:pPr algn="l">
              <a:defRPr sz="1400" b="0">
                <a:solidFill>
                  <a:srgbClr val="E2E8F0"/>
                </a:solidFill>
                <a:latin typeface="Calibri"/>
              </a:defRPr>
            </a:pPr>
            <a:r>
              <a:t>✕  Issues found weeks after authoring</a:t>
            </a:r>
          </a:p>
        </p:txBody>
      </p:sp>
      <p:sp>
        <p:nvSpPr>
          <p:cNvPr id="8" name="TextBox 7"/>
          <p:cNvSpPr txBox="1"/>
          <p:nvPr/>
        </p:nvSpPr>
        <p:spPr>
          <a:xfrm>
            <a:off x="1005840" y="3291840"/>
            <a:ext cx="4572000" cy="320040"/>
          </a:xfrm>
          <a:prstGeom prst="rect">
            <a:avLst/>
          </a:prstGeom>
          <a:noFill/>
        </p:spPr>
        <p:txBody>
          <a:bodyPr wrap="square">
            <a:spAutoFit/>
          </a:bodyPr>
          <a:lstStyle/>
          <a:p>
            <a:pPr algn="l">
              <a:defRPr sz="1400" b="0">
                <a:solidFill>
                  <a:srgbClr val="E2E8F0"/>
                </a:solidFill>
                <a:latin typeface="Calibri"/>
              </a:defRPr>
            </a:pPr>
            <a:r>
              <a:t>✕  Hard to ensure consistency at scale</a:t>
            </a:r>
          </a:p>
        </p:txBody>
      </p:sp>
      <p:sp>
        <p:nvSpPr>
          <p:cNvPr id="9" name="TextBox 8"/>
          <p:cNvSpPr txBox="1"/>
          <p:nvPr/>
        </p:nvSpPr>
        <p:spPr>
          <a:xfrm>
            <a:off x="1005840" y="3703320"/>
            <a:ext cx="4572000" cy="320040"/>
          </a:xfrm>
          <a:prstGeom prst="rect">
            <a:avLst/>
          </a:prstGeom>
          <a:noFill/>
        </p:spPr>
        <p:txBody>
          <a:bodyPr wrap="square">
            <a:spAutoFit/>
          </a:bodyPr>
          <a:lstStyle/>
          <a:p>
            <a:pPr algn="l">
              <a:defRPr sz="1400" b="0">
                <a:solidFill>
                  <a:srgbClr val="E2E8F0"/>
                </a:solidFill>
                <a:latin typeface="Calibri"/>
              </a:defRPr>
            </a:pPr>
            <a:r>
              <a:t>✕  Errors slip through to learners</a:t>
            </a:r>
          </a:p>
        </p:txBody>
      </p:sp>
      <p:sp>
        <p:nvSpPr>
          <p:cNvPr id="10" name="TextBox 9"/>
          <p:cNvSpPr txBox="1"/>
          <p:nvPr/>
        </p:nvSpPr>
        <p:spPr>
          <a:xfrm>
            <a:off x="1005840" y="4114800"/>
            <a:ext cx="4572000" cy="320040"/>
          </a:xfrm>
          <a:prstGeom prst="rect">
            <a:avLst/>
          </a:prstGeom>
          <a:noFill/>
        </p:spPr>
        <p:txBody>
          <a:bodyPr wrap="square">
            <a:spAutoFit/>
          </a:bodyPr>
          <a:lstStyle/>
          <a:p>
            <a:pPr algn="l">
              <a:defRPr sz="1400" b="0">
                <a:solidFill>
                  <a:srgbClr val="E2E8F0"/>
                </a:solidFill>
                <a:latin typeface="Calibri"/>
              </a:defRPr>
            </a:pPr>
            <a:r>
              <a:t>✕  Manual fixes require LMS editing</a:t>
            </a:r>
          </a:p>
        </p:txBody>
      </p:sp>
      <p:sp>
        <p:nvSpPr>
          <p:cNvPr id="11" name="TextBox 10"/>
          <p:cNvSpPr txBox="1"/>
          <p:nvPr/>
        </p:nvSpPr>
        <p:spPr>
          <a:xfrm>
            <a:off x="1005840" y="4526280"/>
            <a:ext cx="4572000" cy="320040"/>
          </a:xfrm>
          <a:prstGeom prst="rect">
            <a:avLst/>
          </a:prstGeom>
          <a:noFill/>
        </p:spPr>
        <p:txBody>
          <a:bodyPr wrap="square">
            <a:spAutoFit/>
          </a:bodyPr>
          <a:lstStyle/>
          <a:p>
            <a:pPr algn="l">
              <a:defRPr sz="1400" b="0">
                <a:solidFill>
                  <a:srgbClr val="E2E8F0"/>
                </a:solidFill>
                <a:latin typeface="Calibri"/>
              </a:defRPr>
            </a:pPr>
            <a:r>
              <a:t>✕  No quality audit trail</a:t>
            </a:r>
          </a:p>
        </p:txBody>
      </p:sp>
      <p:sp>
        <p:nvSpPr>
          <p:cNvPr id="12" name="Rounded Rectangle 11"/>
          <p:cNvSpPr/>
          <p:nvPr/>
        </p:nvSpPr>
        <p:spPr>
          <a:xfrm>
            <a:off x="6400800" y="1828800"/>
            <a:ext cx="5029200" cy="3474720"/>
          </a:xfrm>
          <a:prstGeom prst="roundRect">
            <a:avLst/>
          </a:prstGeom>
          <a:solidFill>
            <a:srgbClr val="0F2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0" y="1920240"/>
            <a:ext cx="4114800" cy="365760"/>
          </a:xfrm>
          <a:prstGeom prst="rect">
            <a:avLst/>
          </a:prstGeom>
          <a:noFill/>
        </p:spPr>
        <p:txBody>
          <a:bodyPr wrap="square">
            <a:spAutoFit/>
          </a:bodyPr>
          <a:lstStyle/>
          <a:p>
            <a:pPr algn="l">
              <a:defRPr sz="1800" b="1">
                <a:solidFill>
                  <a:srgbClr val="22C55E"/>
                </a:solidFill>
                <a:latin typeface="Calibri"/>
              </a:defRPr>
            </a:pPr>
            <a:r>
              <a:t>After Fixatron</a:t>
            </a:r>
          </a:p>
        </p:txBody>
      </p:sp>
      <p:sp>
        <p:nvSpPr>
          <p:cNvPr id="14" name="TextBox 13"/>
          <p:cNvSpPr txBox="1"/>
          <p:nvPr/>
        </p:nvSpPr>
        <p:spPr>
          <a:xfrm>
            <a:off x="6675120" y="2468880"/>
            <a:ext cx="4572000" cy="320040"/>
          </a:xfrm>
          <a:prstGeom prst="rect">
            <a:avLst/>
          </a:prstGeom>
          <a:noFill/>
        </p:spPr>
        <p:txBody>
          <a:bodyPr wrap="square">
            <a:spAutoFit/>
          </a:bodyPr>
          <a:lstStyle/>
          <a:p>
            <a:pPr algn="l">
              <a:defRPr sz="1400" b="0">
                <a:solidFill>
                  <a:srgbClr val="E2E8F0"/>
                </a:solidFill>
                <a:latin typeface="Calibri"/>
              </a:defRPr>
            </a:pPr>
            <a:r>
              <a:t>✓  Complete analysis in under 5 seconds</a:t>
            </a:r>
          </a:p>
        </p:txBody>
      </p:sp>
      <p:sp>
        <p:nvSpPr>
          <p:cNvPr id="15" name="TextBox 14"/>
          <p:cNvSpPr txBox="1"/>
          <p:nvPr/>
        </p:nvSpPr>
        <p:spPr>
          <a:xfrm>
            <a:off x="6675120" y="2880360"/>
            <a:ext cx="4572000" cy="320040"/>
          </a:xfrm>
          <a:prstGeom prst="rect">
            <a:avLst/>
          </a:prstGeom>
          <a:noFill/>
        </p:spPr>
        <p:txBody>
          <a:bodyPr wrap="square">
            <a:spAutoFit/>
          </a:bodyPr>
          <a:lstStyle/>
          <a:p>
            <a:pPr algn="l">
              <a:defRPr sz="1400" b="0">
                <a:solidFill>
                  <a:srgbClr val="E2E8F0"/>
                </a:solidFill>
                <a:latin typeface="Calibri"/>
              </a:defRPr>
            </a:pPr>
            <a:r>
              <a:t>✓  Instant feedback during development</a:t>
            </a:r>
          </a:p>
        </p:txBody>
      </p:sp>
      <p:sp>
        <p:nvSpPr>
          <p:cNvPr id="16" name="TextBox 15"/>
          <p:cNvSpPr txBox="1"/>
          <p:nvPr/>
        </p:nvSpPr>
        <p:spPr>
          <a:xfrm>
            <a:off x="6675120" y="3291840"/>
            <a:ext cx="4572000" cy="320040"/>
          </a:xfrm>
          <a:prstGeom prst="rect">
            <a:avLst/>
          </a:prstGeom>
          <a:noFill/>
        </p:spPr>
        <p:txBody>
          <a:bodyPr wrap="square">
            <a:spAutoFit/>
          </a:bodyPr>
          <a:lstStyle/>
          <a:p>
            <a:pPr algn="l">
              <a:defRPr sz="1400" b="0">
                <a:solidFill>
                  <a:srgbClr val="E2E8F0"/>
                </a:solidFill>
                <a:latin typeface="Calibri"/>
              </a:defRPr>
            </a:pPr>
            <a:r>
              <a:t>✓  Same 95 rules, every time, for every module</a:t>
            </a:r>
          </a:p>
        </p:txBody>
      </p:sp>
      <p:sp>
        <p:nvSpPr>
          <p:cNvPr id="17" name="TextBox 16"/>
          <p:cNvSpPr txBox="1"/>
          <p:nvPr/>
        </p:nvSpPr>
        <p:spPr>
          <a:xfrm>
            <a:off x="6675120" y="3703320"/>
            <a:ext cx="4572000" cy="320040"/>
          </a:xfrm>
          <a:prstGeom prst="rect">
            <a:avLst/>
          </a:prstGeom>
          <a:noFill/>
        </p:spPr>
        <p:txBody>
          <a:bodyPr wrap="square">
            <a:spAutoFit/>
          </a:bodyPr>
          <a:lstStyle/>
          <a:p>
            <a:pPr algn="l">
              <a:defRPr sz="1400" b="0">
                <a:solidFill>
                  <a:srgbClr val="E2E8F0"/>
                </a:solidFill>
                <a:latin typeface="Calibri"/>
              </a:defRPr>
            </a:pPr>
            <a:r>
              <a:t>✓  Surfaces findings across every detail</a:t>
            </a:r>
          </a:p>
        </p:txBody>
      </p:sp>
      <p:sp>
        <p:nvSpPr>
          <p:cNvPr id="18" name="TextBox 17"/>
          <p:cNvSpPr txBox="1"/>
          <p:nvPr/>
        </p:nvSpPr>
        <p:spPr>
          <a:xfrm>
            <a:off x="6675120" y="4114800"/>
            <a:ext cx="4572000" cy="320040"/>
          </a:xfrm>
          <a:prstGeom prst="rect">
            <a:avLst/>
          </a:prstGeom>
          <a:noFill/>
        </p:spPr>
        <p:txBody>
          <a:bodyPr wrap="square">
            <a:spAutoFit/>
          </a:bodyPr>
          <a:lstStyle/>
          <a:p>
            <a:pPr algn="l">
              <a:defRPr sz="1400" b="0">
                <a:solidFill>
                  <a:srgbClr val="E2E8F0"/>
                </a:solidFill>
                <a:latin typeface="Calibri"/>
              </a:defRPr>
            </a:pPr>
            <a:r>
              <a:t>✓  One-click fixes, export-ready</a:t>
            </a:r>
          </a:p>
        </p:txBody>
      </p:sp>
      <p:sp>
        <p:nvSpPr>
          <p:cNvPr id="19" name="TextBox 18"/>
          <p:cNvSpPr txBox="1"/>
          <p:nvPr/>
        </p:nvSpPr>
        <p:spPr>
          <a:xfrm>
            <a:off x="6675120" y="4526280"/>
            <a:ext cx="4572000" cy="320040"/>
          </a:xfrm>
          <a:prstGeom prst="rect">
            <a:avLst/>
          </a:prstGeom>
          <a:noFill/>
        </p:spPr>
        <p:txBody>
          <a:bodyPr wrap="square">
            <a:spAutoFit/>
          </a:bodyPr>
          <a:lstStyle/>
          <a:p>
            <a:pPr algn="l">
              <a:defRPr sz="1400" b="0">
                <a:solidFill>
                  <a:srgbClr val="E2E8F0"/>
                </a:solidFill>
                <a:latin typeface="Calibri"/>
              </a:defRPr>
            </a:pPr>
            <a:r>
              <a:t>✓  AI evaluates content quality &amp; completeness</a:t>
            </a:r>
          </a:p>
        </p:txBody>
      </p:sp>
      <p:sp>
        <p:nvSpPr>
          <p:cNvPr id="20" name="Rounded Rectangle 19"/>
          <p:cNvSpPr/>
          <p:nvPr/>
        </p:nvSpPr>
        <p:spPr>
          <a:xfrm>
            <a:off x="731520" y="5577840"/>
            <a:ext cx="10515600" cy="640080"/>
          </a:xfrm>
          <a:prstGeom prst="roundRect">
            <a:avLst/>
          </a:prstGeom>
          <a:solidFill>
            <a:srgbClr val="25254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a:solidFill>
                  <a:srgbClr val="818CF8"/>
                </a:solidFill>
                <a:latin typeface="Calibri"/>
              </a:defRPr>
            </a:pPr>
            <a:r>
              <a:t>Fixatron ensures nothing gets overlooked — comprehensive, consistent quality assurance for every UAI Module.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4572000" cy="365760"/>
          </a:xfrm>
          <a:prstGeom prst="rect">
            <a:avLst/>
          </a:prstGeom>
          <a:noFill/>
        </p:spPr>
        <p:txBody>
          <a:bodyPr wrap="square">
            <a:spAutoFit/>
          </a:bodyPr>
          <a:lstStyle/>
          <a:p>
            <a:pPr algn="l">
              <a:defRPr sz="1200" b="1">
                <a:solidFill>
                  <a:srgbClr val="6366F1"/>
                </a:solidFill>
                <a:latin typeface="Calibri"/>
              </a:defRPr>
            </a:pPr>
            <a:r>
              <a:t>BIGGER PICTURE</a:t>
            </a:r>
          </a:p>
        </p:txBody>
      </p:sp>
      <p:sp>
        <p:nvSpPr>
          <p:cNvPr id="3" name="TextBox 2"/>
          <p:cNvSpPr txBox="1"/>
          <p:nvPr/>
        </p:nvSpPr>
        <p:spPr>
          <a:xfrm>
            <a:off x="731520" y="914400"/>
            <a:ext cx="10058400" cy="640080"/>
          </a:xfrm>
          <a:prstGeom prst="rect">
            <a:avLst/>
          </a:prstGeom>
          <a:noFill/>
        </p:spPr>
        <p:txBody>
          <a:bodyPr wrap="square">
            <a:spAutoFit/>
          </a:bodyPr>
          <a:lstStyle/>
          <a:p>
            <a:pPr algn="ctr">
              <a:defRPr sz="3600" b="1">
                <a:solidFill>
                  <a:srgbClr val="1E293B"/>
                </a:solidFill>
                <a:latin typeface="Calibri"/>
              </a:defRPr>
            </a:pPr>
            <a:r>
              <a:t>A model for AI-enabled work</a:t>
            </a:r>
          </a:p>
        </p:txBody>
      </p:sp>
      <p:sp>
        <p:nvSpPr>
          <p:cNvPr id="4" name="TextBox 3"/>
          <p:cNvSpPr txBox="1"/>
          <p:nvPr/>
        </p:nvSpPr>
        <p:spPr>
          <a:xfrm>
            <a:off x="1828800" y="1554480"/>
            <a:ext cx="8503920" cy="548640"/>
          </a:xfrm>
          <a:prstGeom prst="rect">
            <a:avLst/>
          </a:prstGeom>
          <a:noFill/>
        </p:spPr>
        <p:txBody>
          <a:bodyPr wrap="square">
            <a:spAutoFit/>
          </a:bodyPr>
          <a:lstStyle/>
          <a:p>
            <a:pPr algn="ctr">
              <a:defRPr sz="1600" b="0">
                <a:solidFill>
                  <a:srgbClr val="64748B"/>
                </a:solidFill>
                <a:latin typeface="Calibri"/>
              </a:defRPr>
            </a:pPr>
            <a:r>
              <a:t>Fixatron2000 demonstrates what’s possible when human expertise and AI capability work together deliberately.</a:t>
            </a:r>
          </a:p>
        </p:txBody>
      </p:sp>
      <p:sp>
        <p:nvSpPr>
          <p:cNvPr id="5" name="Rounded Rectangle 4"/>
          <p:cNvSpPr/>
          <p:nvPr/>
        </p:nvSpPr>
        <p:spPr>
          <a:xfrm>
            <a:off x="731520" y="2468880"/>
            <a:ext cx="347472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800" b="1">
                <a:solidFill>
                  <a:srgbClr val="1E293B"/>
                </a:solidFill>
                <a:latin typeface="Calibri"/>
              </a:defRPr>
            </a:pPr>
            <a:r>
              <a:t>Human sets direction</a:t>
            </a:r>
          </a:p>
          <a:p>
            <a:pPr>
              <a:defRPr sz="1300">
                <a:solidFill>
                  <a:srgbClr val="64748B"/>
                </a:solidFill>
                <a:latin typeface="Calibri"/>
              </a:defRPr>
            </a:pPr>
            <a:r>
              <a:t>Domain knowledge, quality standards, and judgment about what matters — that comes from the team.</a:t>
            </a:r>
          </a:p>
        </p:txBody>
      </p:sp>
      <p:sp>
        <p:nvSpPr>
          <p:cNvPr id="6" name="Rounded Rectangle 5"/>
          <p:cNvSpPr/>
          <p:nvPr/>
        </p:nvSpPr>
        <p:spPr>
          <a:xfrm>
            <a:off x="4480559" y="2468880"/>
            <a:ext cx="347472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800" b="1">
                <a:solidFill>
                  <a:srgbClr val="1E293B"/>
                </a:solidFill>
                <a:latin typeface="Calibri"/>
              </a:defRPr>
            </a:pPr>
            <a:r>
              <a:t>AI amplifies capability</a:t>
            </a:r>
          </a:p>
          <a:p>
            <a:pPr>
              <a:defRPr sz="1300">
                <a:solidFill>
                  <a:srgbClr val="64748B"/>
                </a:solidFill>
                <a:latin typeface="Calibri"/>
              </a:defRPr>
            </a:pPr>
            <a:r>
              <a:t>Multiple specialized agents work in parallel — security, testing, UI, content analysis — covering more ground than any individual could.</a:t>
            </a:r>
          </a:p>
        </p:txBody>
      </p:sp>
      <p:sp>
        <p:nvSpPr>
          <p:cNvPr id="7" name="Rounded Rectangle 6"/>
          <p:cNvSpPr/>
          <p:nvPr/>
        </p:nvSpPr>
        <p:spPr>
          <a:xfrm>
            <a:off x="8229600" y="2468880"/>
            <a:ext cx="347472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800" b="1">
                <a:solidFill>
                  <a:srgbClr val="1E293B"/>
                </a:solidFill>
                <a:latin typeface="Calibri"/>
              </a:defRPr>
            </a:pPr>
            <a:r>
              <a:t>Iteration drives quality</a:t>
            </a:r>
          </a:p>
          <a:p>
            <a:pPr>
              <a:defRPr sz="1300">
                <a:solidFill>
                  <a:srgbClr val="64748B"/>
                </a:solidFill>
                <a:latin typeface="Calibri"/>
              </a:defRPr>
            </a:pPr>
            <a:r>
              <a:t>Real module exports tested, rules refined, edge cases discovered and handled — each cycle made the tool smarter.</a:t>
            </a:r>
          </a:p>
        </p:txBody>
      </p:sp>
      <p:sp>
        <p:nvSpPr>
          <p:cNvPr id="8" name="Rounded Rectangle 7"/>
          <p:cNvSpPr/>
          <p:nvPr/>
        </p:nvSpPr>
        <p:spPr>
          <a:xfrm>
            <a:off x="1828800" y="4846320"/>
            <a:ext cx="850392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800" b="1">
                <a:solidFill>
                  <a:srgbClr val="1E293B"/>
                </a:solidFill>
                <a:latin typeface="Calibri"/>
              </a:defRPr>
            </a:pPr>
            <a:r>
              <a:t>What this means for Universal AI</a:t>
            </a:r>
          </a:p>
          <a:p>
            <a:pPr>
              <a:defRPr sz="1400">
                <a:solidFill>
                  <a:srgbClr val="64748B"/>
                </a:solidFill>
                <a:latin typeface="Calibri"/>
              </a:defRPr>
            </a:pPr>
            <a:r>
              <a:t>This same collaborative approach — human expertise + AI agents + iterative refinement — can be applied to other challenges across the UAI program. Fixatron is a proof point for how we can embed AI into our workflows to raise the bar on quality.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457200"/>
            <a:ext cx="4572000" cy="365760"/>
          </a:xfrm>
          <a:prstGeom prst="rect">
            <a:avLst/>
          </a:prstGeom>
          <a:noFill/>
        </p:spPr>
        <p:txBody>
          <a:bodyPr wrap="square">
            <a:spAutoFit/>
          </a:bodyPr>
          <a:lstStyle/>
          <a:p>
            <a:pPr algn="l">
              <a:defRPr sz="1200" b="1">
                <a:solidFill>
                  <a:srgbClr val="94A3B8"/>
                </a:solidFill>
                <a:latin typeface="Calibri"/>
              </a:defRPr>
            </a:pPr>
            <a:r>
              <a:t>LOOKING AHEAD</a:t>
            </a:r>
          </a:p>
        </p:txBody>
      </p:sp>
      <p:sp>
        <p:nvSpPr>
          <p:cNvPr id="3" name="TextBox 2"/>
          <p:cNvSpPr txBox="1"/>
          <p:nvPr/>
        </p:nvSpPr>
        <p:spPr>
          <a:xfrm>
            <a:off x="731520" y="914400"/>
            <a:ext cx="9144000" cy="640080"/>
          </a:xfrm>
          <a:prstGeom prst="rect">
            <a:avLst/>
          </a:prstGeom>
          <a:noFill/>
        </p:spPr>
        <p:txBody>
          <a:bodyPr wrap="square">
            <a:spAutoFit/>
          </a:bodyPr>
          <a:lstStyle/>
          <a:p>
            <a:pPr algn="l">
              <a:defRPr sz="3600" b="1">
                <a:solidFill>
                  <a:srgbClr val="FFFFFF"/>
                </a:solidFill>
                <a:latin typeface="Calibri"/>
              </a:defRPr>
            </a:pPr>
            <a:r>
              <a:t>Where we go from here</a:t>
            </a:r>
          </a:p>
        </p:txBody>
      </p:sp>
      <p:sp>
        <p:nvSpPr>
          <p:cNvPr id="4" name="Rounded Rectangle 3"/>
          <p:cNvSpPr/>
          <p:nvPr/>
        </p:nvSpPr>
        <p:spPr>
          <a:xfrm>
            <a:off x="731520" y="1828800"/>
            <a:ext cx="3474720" cy="4389120"/>
          </a:xfrm>
          <a:prstGeom prst="roundRect">
            <a:avLst/>
          </a:prstGeom>
          <a:solidFill>
            <a:srgbClr val="2222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2000" b="1">
                <a:solidFill>
                  <a:srgbClr val="22C55E"/>
                </a:solidFill>
                <a:latin typeface="Calibri"/>
              </a:defRPr>
            </a:pPr>
            <a:r>
              <a:t>Today</a:t>
            </a:r>
          </a:p>
          <a:p>
            <a:pPr>
              <a:spcBef>
                <a:spcPts val="600"/>
              </a:spcBef>
              <a:defRPr sz="1300">
                <a:solidFill>
                  <a:srgbClr val="E2E8F0"/>
                </a:solidFill>
                <a:latin typeface="Calibri"/>
              </a:defRPr>
            </a:pPr>
            <a:r>
              <a:t>✓ 95 quality rules across 18 categories</a:t>
            </a:r>
          </a:p>
          <a:p>
            <a:pPr>
              <a:spcBef>
                <a:spcPts val="600"/>
              </a:spcBef>
              <a:defRPr sz="1300">
                <a:solidFill>
                  <a:srgbClr val="E2E8F0"/>
                </a:solidFill>
                <a:latin typeface="Calibri"/>
              </a:defRPr>
            </a:pPr>
            <a:r>
              <a:t>✓ AI-powered content evaluation</a:t>
            </a:r>
          </a:p>
          <a:p>
            <a:pPr>
              <a:spcBef>
                <a:spcPts val="600"/>
              </a:spcBef>
              <a:defRPr sz="1300">
                <a:solidFill>
                  <a:srgbClr val="E2E8F0"/>
                </a:solidFill>
                <a:latin typeface="Calibri"/>
              </a:defRPr>
            </a:pPr>
            <a:r>
              <a:t>✓ 16 one-click auto-fixes</a:t>
            </a:r>
          </a:p>
          <a:p>
            <a:pPr>
              <a:spcBef>
                <a:spcPts val="600"/>
              </a:spcBef>
              <a:defRPr sz="1300">
                <a:solidFill>
                  <a:srgbClr val="E2E8F0"/>
                </a:solidFill>
                <a:latin typeface="Calibri"/>
              </a:defRPr>
            </a:pPr>
            <a:r>
              <a:t>✓ Export corrected modules</a:t>
            </a:r>
          </a:p>
          <a:p>
            <a:pPr>
              <a:spcBef>
                <a:spcPts val="600"/>
              </a:spcBef>
              <a:defRPr sz="1300">
                <a:solidFill>
                  <a:srgbClr val="E2E8F0"/>
                </a:solidFill>
                <a:latin typeface="Calibri"/>
              </a:defRPr>
            </a:pPr>
            <a:r>
              <a:t>✓ Already surfacing findings in real modules</a:t>
            </a:r>
          </a:p>
        </p:txBody>
      </p:sp>
      <p:sp>
        <p:nvSpPr>
          <p:cNvPr id="5" name="Rounded Rectangle 4"/>
          <p:cNvSpPr/>
          <p:nvPr/>
        </p:nvSpPr>
        <p:spPr>
          <a:xfrm>
            <a:off x="4480559" y="1828800"/>
            <a:ext cx="3474720" cy="4389120"/>
          </a:xfrm>
          <a:prstGeom prst="roundRect">
            <a:avLst/>
          </a:prstGeom>
          <a:solidFill>
            <a:srgbClr val="2222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2000" b="1">
                <a:solidFill>
                  <a:srgbClr val="818CF8"/>
                </a:solidFill>
                <a:latin typeface="Calibri"/>
              </a:defRPr>
            </a:pPr>
            <a:r>
              <a:t>Next</a:t>
            </a:r>
          </a:p>
          <a:p>
            <a:pPr>
              <a:spcBef>
                <a:spcPts val="600"/>
              </a:spcBef>
              <a:defRPr sz="1300">
                <a:solidFill>
                  <a:srgbClr val="E2E8F0"/>
                </a:solidFill>
                <a:latin typeface="Calibri"/>
              </a:defRPr>
            </a:pPr>
            <a:r>
              <a:t>Batch processing for multiple modules</a:t>
            </a:r>
          </a:p>
          <a:p>
            <a:pPr>
              <a:spcBef>
                <a:spcPts val="600"/>
              </a:spcBef>
              <a:defRPr sz="1300">
                <a:solidFill>
                  <a:srgbClr val="E2E8F0"/>
                </a:solidFill>
                <a:latin typeface="Calibri"/>
              </a:defRPr>
            </a:pPr>
            <a:r>
              <a:t>AI-powered custom rule creation</a:t>
            </a:r>
          </a:p>
          <a:p>
            <a:pPr>
              <a:spcBef>
                <a:spcPts val="600"/>
              </a:spcBef>
              <a:defRPr sz="1300">
                <a:solidFill>
                  <a:srgbClr val="E2E8F0"/>
                </a:solidFill>
                <a:latin typeface="Calibri"/>
              </a:defRPr>
            </a:pPr>
            <a:r>
              <a:t>Historical quality tracking</a:t>
            </a:r>
          </a:p>
          <a:p>
            <a:pPr>
              <a:spcBef>
                <a:spcPts val="600"/>
              </a:spcBef>
              <a:defRPr sz="1300">
                <a:solidFill>
                  <a:srgbClr val="E2E8F0"/>
                </a:solidFill>
                <a:latin typeface="Calibri"/>
              </a:defRPr>
            </a:pPr>
            <a:r>
              <a:t>Exportable QA reports</a:t>
            </a:r>
          </a:p>
          <a:p>
            <a:pPr>
              <a:spcBef>
                <a:spcPts val="600"/>
              </a:spcBef>
              <a:defRPr sz="1300">
                <a:solidFill>
                  <a:srgbClr val="E2E8F0"/>
                </a:solidFill>
                <a:latin typeface="Calibri"/>
              </a:defRPr>
            </a:pPr>
            <a:r>
              <a:t>Team collaboration features</a:t>
            </a:r>
          </a:p>
        </p:txBody>
      </p:sp>
      <p:sp>
        <p:nvSpPr>
          <p:cNvPr id="6" name="Rounded Rectangle 5"/>
          <p:cNvSpPr/>
          <p:nvPr/>
        </p:nvSpPr>
        <p:spPr>
          <a:xfrm>
            <a:off x="8229600" y="1828800"/>
            <a:ext cx="3474720" cy="4389120"/>
          </a:xfrm>
          <a:prstGeom prst="roundRect">
            <a:avLst/>
          </a:prstGeom>
          <a:solidFill>
            <a:srgbClr val="2222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2000" b="1">
                <a:solidFill>
                  <a:srgbClr val="C084FC"/>
                </a:solidFill>
                <a:latin typeface="Calibri"/>
              </a:defRPr>
            </a:pPr>
            <a:r>
              <a:t>Vision</a:t>
            </a:r>
          </a:p>
          <a:p>
            <a:pPr>
              <a:spcBef>
                <a:spcPts val="600"/>
              </a:spcBef>
              <a:defRPr sz="1300">
                <a:solidFill>
                  <a:srgbClr val="E2E8F0"/>
                </a:solidFill>
                <a:latin typeface="Calibri"/>
              </a:defRPr>
            </a:pPr>
            <a:r>
              <a:t>Pre-publish quality gates</a:t>
            </a:r>
          </a:p>
          <a:p>
            <a:pPr>
              <a:spcBef>
                <a:spcPts val="600"/>
              </a:spcBef>
              <a:defRPr sz="1300">
                <a:solidFill>
                  <a:srgbClr val="E2E8F0"/>
                </a:solidFill>
                <a:latin typeface="Calibri"/>
              </a:defRPr>
            </a:pPr>
            <a:r>
              <a:t>Cross-module consistency checks</a:t>
            </a:r>
          </a:p>
          <a:p>
            <a:pPr>
              <a:spcBef>
                <a:spcPts val="600"/>
              </a:spcBef>
              <a:defRPr sz="1300">
                <a:solidFill>
                  <a:srgbClr val="E2E8F0"/>
                </a:solidFill>
                <a:latin typeface="Calibri"/>
              </a:defRPr>
            </a:pPr>
            <a:r>
              <a:t>Learning outcome alignment</a:t>
            </a:r>
          </a:p>
          <a:p>
            <a:pPr>
              <a:spcBef>
                <a:spcPts val="600"/>
              </a:spcBef>
              <a:defRPr sz="1300">
                <a:solidFill>
                  <a:srgbClr val="E2E8F0"/>
                </a:solidFill>
                <a:latin typeface="Calibri"/>
              </a:defRPr>
            </a:pPr>
            <a:r>
              <a:t>Accessibility deep-dive (WCAG)</a:t>
            </a:r>
          </a:p>
          <a:p>
            <a:pPr>
              <a:spcBef>
                <a:spcPts val="600"/>
              </a:spcBef>
              <a:defRPr sz="1300">
                <a:solidFill>
                  <a:srgbClr val="E2E8F0"/>
                </a:solidFill>
                <a:latin typeface="Calibri"/>
              </a:defRPr>
            </a:pPr>
            <a:r>
              <a:t>A model for AI-assisted QA across MIT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A31F34"/>
        </a:solidFill>
        <a:effectLst/>
      </p:bgPr>
    </p:bg>
    <p:spTree>
      <p:nvGrpSpPr>
        <p:cNvPr id="1" name=""/>
        <p:cNvGrpSpPr/>
        <p:nvPr/>
      </p:nvGrpSpPr>
      <p:grpSpPr/>
      <p:sp>
        <p:nvSpPr>
          <p:cNvPr id="2" name="TextBox 1"/>
          <p:cNvSpPr txBox="1"/>
          <p:nvPr/>
        </p:nvSpPr>
        <p:spPr>
          <a:xfrm>
            <a:off x="914400" y="1371600"/>
            <a:ext cx="10332720" cy="1097280"/>
          </a:xfrm>
          <a:prstGeom prst="rect">
            <a:avLst/>
          </a:prstGeom>
          <a:noFill/>
        </p:spPr>
        <p:txBody>
          <a:bodyPr wrap="square">
            <a:spAutoFit/>
          </a:bodyPr>
          <a:lstStyle/>
          <a:p>
            <a:pPr algn="ctr">
              <a:defRPr sz="5400" b="1">
                <a:solidFill>
                  <a:srgbClr val="FFFFFF"/>
                </a:solidFill>
                <a:latin typeface="Calibri"/>
              </a:defRPr>
            </a:pPr>
            <a:r>
              <a:t>Fixatron2000</a:t>
            </a:r>
          </a:p>
        </p:txBody>
      </p:sp>
      <p:sp>
        <p:nvSpPr>
          <p:cNvPr id="3" name="TextBox 2"/>
          <p:cNvSpPr txBox="1"/>
          <p:nvPr/>
        </p:nvSpPr>
        <p:spPr>
          <a:xfrm>
            <a:off x="1828800" y="2743200"/>
            <a:ext cx="8503920" cy="1371600"/>
          </a:xfrm>
          <a:prstGeom prst="rect">
            <a:avLst/>
          </a:prstGeom>
          <a:noFill/>
        </p:spPr>
        <p:txBody>
          <a:bodyPr wrap="square">
            <a:spAutoFit/>
          </a:bodyPr>
          <a:lstStyle/>
          <a:p>
            <a:pPr algn="ctr">
              <a:defRPr sz="2200" b="0">
                <a:solidFill>
                  <a:srgbClr val="E2E8F0"/>
                </a:solidFill>
                <a:latin typeface="Calibri"/>
              </a:defRPr>
            </a:pPr>
            <a:r>
              <a:t>AI-powered quality assurance for UAI Modules.</a:t>
            </a:r>
            <a:br/>
            <a:r>
              <a:t>Built through human + AI collaboration.</a:t>
            </a:r>
            <a:br/>
            <a:r>
              <a:t>Comprehensive quality, automatically.</a:t>
            </a:r>
          </a:p>
        </p:txBody>
      </p:sp>
      <p:sp>
        <p:nvSpPr>
          <p:cNvPr id="4" name="TextBox 3"/>
          <p:cNvSpPr txBox="1"/>
          <p:nvPr/>
        </p:nvSpPr>
        <p:spPr>
          <a:xfrm>
            <a:off x="3200400" y="4389120"/>
            <a:ext cx="1828800" cy="731520"/>
          </a:xfrm>
          <a:prstGeom prst="rect">
            <a:avLst/>
          </a:prstGeom>
          <a:noFill/>
        </p:spPr>
        <p:txBody>
          <a:bodyPr wrap="square">
            <a:spAutoFit/>
          </a:bodyPr>
          <a:lstStyle/>
          <a:p>
            <a:pPr algn="ctr">
              <a:defRPr sz="4200" b="1">
                <a:solidFill>
                  <a:srgbClr val="FFFFFF"/>
                </a:solidFill>
                <a:latin typeface="Calibri"/>
              </a:defRPr>
            </a:pPr>
            <a:r>
              <a:t>95</a:t>
            </a:r>
          </a:p>
        </p:txBody>
      </p:sp>
      <p:sp>
        <p:nvSpPr>
          <p:cNvPr id="5" name="TextBox 4"/>
          <p:cNvSpPr txBox="1"/>
          <p:nvPr/>
        </p:nvSpPr>
        <p:spPr>
          <a:xfrm>
            <a:off x="3200400" y="5029200"/>
            <a:ext cx="1828800" cy="365760"/>
          </a:xfrm>
          <a:prstGeom prst="rect">
            <a:avLst/>
          </a:prstGeom>
          <a:noFill/>
        </p:spPr>
        <p:txBody>
          <a:bodyPr wrap="square">
            <a:spAutoFit/>
          </a:bodyPr>
          <a:lstStyle/>
          <a:p>
            <a:pPr algn="ctr">
              <a:defRPr sz="1400" b="0">
                <a:solidFill>
                  <a:srgbClr val="E2E8F0"/>
                </a:solidFill>
                <a:latin typeface="Calibri"/>
              </a:defRPr>
            </a:pPr>
            <a:r>
              <a:t>Quality Rules</a:t>
            </a:r>
          </a:p>
        </p:txBody>
      </p:sp>
      <p:sp>
        <p:nvSpPr>
          <p:cNvPr id="6" name="TextBox 5"/>
          <p:cNvSpPr txBox="1"/>
          <p:nvPr/>
        </p:nvSpPr>
        <p:spPr>
          <a:xfrm>
            <a:off x="5486400" y="4389120"/>
            <a:ext cx="1828800" cy="731520"/>
          </a:xfrm>
          <a:prstGeom prst="rect">
            <a:avLst/>
          </a:prstGeom>
          <a:noFill/>
        </p:spPr>
        <p:txBody>
          <a:bodyPr wrap="square">
            <a:spAutoFit/>
          </a:bodyPr>
          <a:lstStyle/>
          <a:p>
            <a:pPr algn="ctr">
              <a:defRPr sz="4200" b="1">
                <a:solidFill>
                  <a:srgbClr val="FFFFFF"/>
                </a:solidFill>
                <a:latin typeface="Calibri"/>
              </a:defRPr>
            </a:pPr>
            <a:r>
              <a:t>&lt;5s</a:t>
            </a:r>
          </a:p>
        </p:txBody>
      </p:sp>
      <p:sp>
        <p:nvSpPr>
          <p:cNvPr id="7" name="TextBox 6"/>
          <p:cNvSpPr txBox="1"/>
          <p:nvPr/>
        </p:nvSpPr>
        <p:spPr>
          <a:xfrm>
            <a:off x="5486400" y="5029200"/>
            <a:ext cx="1828800" cy="365760"/>
          </a:xfrm>
          <a:prstGeom prst="rect">
            <a:avLst/>
          </a:prstGeom>
          <a:noFill/>
        </p:spPr>
        <p:txBody>
          <a:bodyPr wrap="square">
            <a:spAutoFit/>
          </a:bodyPr>
          <a:lstStyle/>
          <a:p>
            <a:pPr algn="ctr">
              <a:defRPr sz="1400" b="0">
                <a:solidFill>
                  <a:srgbClr val="E2E8F0"/>
                </a:solidFill>
                <a:latin typeface="Calibri"/>
              </a:defRPr>
            </a:pPr>
            <a:r>
              <a:t>Full Analysis</a:t>
            </a:r>
          </a:p>
        </p:txBody>
      </p:sp>
      <p:sp>
        <p:nvSpPr>
          <p:cNvPr id="8" name="TextBox 7"/>
          <p:cNvSpPr txBox="1"/>
          <p:nvPr/>
        </p:nvSpPr>
        <p:spPr>
          <a:xfrm>
            <a:off x="7772400" y="4389120"/>
            <a:ext cx="1828800" cy="731520"/>
          </a:xfrm>
          <a:prstGeom prst="rect">
            <a:avLst/>
          </a:prstGeom>
          <a:noFill/>
        </p:spPr>
        <p:txBody>
          <a:bodyPr wrap="square">
            <a:spAutoFit/>
          </a:bodyPr>
          <a:lstStyle/>
          <a:p>
            <a:pPr algn="ctr">
              <a:defRPr sz="4200" b="1">
                <a:solidFill>
                  <a:srgbClr val="FFFFFF"/>
                </a:solidFill>
                <a:latin typeface="Calibri"/>
              </a:defRPr>
            </a:pPr>
            <a:r>
              <a:t>16</a:t>
            </a:r>
          </a:p>
        </p:txBody>
      </p:sp>
      <p:sp>
        <p:nvSpPr>
          <p:cNvPr id="9" name="TextBox 8"/>
          <p:cNvSpPr txBox="1"/>
          <p:nvPr/>
        </p:nvSpPr>
        <p:spPr>
          <a:xfrm>
            <a:off x="7772400" y="5029200"/>
            <a:ext cx="1828800" cy="365760"/>
          </a:xfrm>
          <a:prstGeom prst="rect">
            <a:avLst/>
          </a:prstGeom>
          <a:noFill/>
        </p:spPr>
        <p:txBody>
          <a:bodyPr wrap="square">
            <a:spAutoFit/>
          </a:bodyPr>
          <a:lstStyle/>
          <a:p>
            <a:pPr algn="ctr">
              <a:defRPr sz="1400" b="0">
                <a:solidFill>
                  <a:srgbClr val="E2E8F0"/>
                </a:solidFill>
                <a:latin typeface="Calibri"/>
              </a:defRPr>
            </a:pPr>
            <a:r>
              <a:t>Auto-Fixes</a:t>
            </a:r>
          </a:p>
        </p:txBody>
      </p:sp>
      <p:sp>
        <p:nvSpPr>
          <p:cNvPr id="10" name="TextBox 9"/>
          <p:cNvSpPr txBox="1"/>
          <p:nvPr/>
        </p:nvSpPr>
        <p:spPr>
          <a:xfrm>
            <a:off x="1828800" y="5943600"/>
            <a:ext cx="8503920" cy="365760"/>
          </a:xfrm>
          <a:prstGeom prst="rect">
            <a:avLst/>
          </a:prstGeom>
          <a:noFill/>
        </p:spPr>
        <p:txBody>
          <a:bodyPr wrap="square">
            <a:spAutoFit/>
          </a:bodyPr>
          <a:lstStyle/>
          <a:p>
            <a:pPr algn="ctr">
              <a:defRPr sz="1400" b="0">
                <a:solidFill>
                  <a:srgbClr val="E2E8F0"/>
                </a:solidFill>
                <a:latin typeface="Calibri"/>
              </a:defRPr>
            </a:pPr>
            <a:r>
              <a:t>MIT Open Learning · Universal 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